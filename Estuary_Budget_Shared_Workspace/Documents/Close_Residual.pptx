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C493-0236-D401-62C8-A1D7973F8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7CDD4-B1F0-AD78-82DA-614E74892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A346-7A6D-D58B-9D7E-A1FECEA4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54FB-FEAC-5557-56C8-9D240504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C282-F68A-C4B7-0CD1-5E304698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37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0120-F634-F938-4661-4ED55290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4F28-2AFA-F101-0E09-EF4F51F6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8D96C-7791-61C3-CC9A-DB26B9E6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313-F09C-EE33-59A0-C8604D07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1505-B06B-D91E-5F69-C1C21DAC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49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B2CD-47F5-2213-F195-4F78AE9D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B30D9-54D3-C45D-C434-5B74D2DF1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C4395-1947-39EF-F683-2B93BDD3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11D2-B63D-534E-FCB6-0661DACC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EF728-1E96-58A0-2E03-62DF4667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25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BB85-D69B-5F00-8EA9-EE75F8B6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A0C9-3A89-1919-27B1-E31326A97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F088A-9560-D770-5807-A8E630D79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9251A-7891-3779-61CC-286F2F82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BB8F3-54D3-270A-F08B-C5680DEB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57B9-5800-1EEA-1868-D81D2A6F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54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5359-F6C6-690B-5B39-9FE93525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ABB19-C471-F865-DE24-7F1FA011A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D5FDE-DC71-72D6-AC8F-6C11A79E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EF7E2-ED61-133C-840F-E28A3CA6A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88D72-3C94-F2CB-B944-6E82D61E8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F0DF1F-F10A-ACB2-4BD9-8534B514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BA5F7-C120-96DF-5F75-2243ABDF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AFF60-B630-54A9-DC16-5FE295E1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7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37A1-AD17-5760-77D5-8E611F9E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31D97-F0C2-3007-2F47-011782A3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04CE1-667A-88E4-BD88-86B7AE63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01823-B163-734C-2E42-862FC5F3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2016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ADA5D-43E6-6A24-43AC-BBAE8B86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59996-B60B-0EB9-11B0-BDEE3D49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EAB4-7AAA-6414-871F-FDCE7067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69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9A37-4BF9-C282-81C1-7DEE3681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2BAD-D570-6D27-0134-2E8186156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D4E62-D27D-711A-4563-038936E5E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17E8F-6532-12B9-D8EE-57D75760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FA9E5-68BB-3E4B-E414-5FAFFCEB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1EAFA-E2DB-6D08-2CC7-72CAD8EF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61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498C-A534-1E1D-4AEB-DBC6DF72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14E32-5D15-0101-4C1A-51B4F9BA6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55F21-AE7F-5E89-DE43-FB04B1966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EC726-8A5E-D97B-60A9-27879A21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E5521-EA04-9F2F-6917-8D1877A0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EF09C-F9A9-F452-44C6-FB157AB5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12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E1D6-42AA-334F-6A10-3C5B6EC9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C3E59-2C98-8361-ED2F-0978E6211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6DA2-EF1E-CF1E-7C20-2C93B5C1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1EACB-9F06-5E61-455A-9D6554CC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AF331-F872-56FC-B0CF-F2D84C06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16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F85B1-CE9B-0401-315A-FD95295F9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8C79A-A749-C1BC-CD10-F765D886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8142-0FA3-2088-D031-71879426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725B-29F3-9666-0799-B4E54F4B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406A5-3554-7E83-EB31-9AC008C4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24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21B71-B1E8-1851-D5A7-4FACE42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836C9-2AFA-E23A-E65E-67343EC6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A1ECB-ADEF-7477-BAD3-9024E357C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E237F-F4F1-45F4-A9C2-161DA5EA4BB3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C7D9B-E1AB-C3E1-345B-8B7574BCC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631CC-1ACB-CE48-A66C-6A5FE3955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123A9-625D-49A5-BCB9-E6AA9449F9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01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5AD8-7D85-F07C-2EF5-F0DB3EED25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796E1-40B6-93BF-EFAD-6CC1E52C8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98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C93DF4-C987-5E62-5F13-5AD834A56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9" y="0"/>
            <a:ext cx="479605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72C054-0BBB-BF52-905E-8CE64A27304C}"/>
              </a:ext>
            </a:extLst>
          </p:cNvPr>
          <p:cNvSpPr txBox="1"/>
          <p:nvPr/>
        </p:nvSpPr>
        <p:spPr>
          <a:xfrm>
            <a:off x="5641062" y="5366776"/>
            <a:ext cx="471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M</a:t>
            </a:r>
            <a:r>
              <a:rPr lang="en-US" altLang="zh-CN" b="1" dirty="0" err="1"/>
              <a:t>ain</a:t>
            </a:r>
            <a:r>
              <a:rPr lang="en-US" altLang="zh-CN" b="1" dirty="0"/>
              <a:t> Control Volume (</a:t>
            </a:r>
            <a:r>
              <a:rPr lang="en-US" altLang="zh-CN" b="1" dirty="0" err="1"/>
              <a:t>MainCV</a:t>
            </a:r>
            <a:r>
              <a:rPr lang="en-US" altLang="zh-CN" b="1" dirty="0"/>
              <a:t>): </a:t>
            </a:r>
            <a:r>
              <a:rPr lang="en-US" altLang="zh-CN" dirty="0"/>
              <a:t>Green area?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C5D16-27C9-F02F-A4CA-DBCE9D7E174E}"/>
              </a:ext>
            </a:extLst>
          </p:cNvPr>
          <p:cNvSpPr txBox="1"/>
          <p:nvPr/>
        </p:nvSpPr>
        <p:spPr>
          <a:xfrm>
            <a:off x="5641062" y="5736108"/>
            <a:ext cx="578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Whole domain:</a:t>
            </a:r>
            <a:r>
              <a:rPr lang="en-AU" dirty="0"/>
              <a:t> Main CV + Ocean buffer + river buffer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FEFA60-97D6-ACBB-4BAB-2378AF03B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800" y="148438"/>
            <a:ext cx="4209825" cy="3031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5389D2-9C42-6DE9-B7B3-5E18F3EA4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894" y="2103275"/>
            <a:ext cx="4493312" cy="303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88E269-FE24-F03F-90DC-EBAF36458851}"/>
              </a:ext>
            </a:extLst>
          </p:cNvPr>
          <p:cNvSpPr txBox="1"/>
          <p:nvPr/>
        </p:nvSpPr>
        <p:spPr>
          <a:xfrm>
            <a:off x="3795165" y="342766"/>
            <a:ext cx="74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C5E1B-D5F5-E2A9-6E5C-A62705A8C73F}"/>
              </a:ext>
            </a:extLst>
          </p:cNvPr>
          <p:cNvSpPr txBox="1"/>
          <p:nvPr/>
        </p:nvSpPr>
        <p:spPr>
          <a:xfrm>
            <a:off x="7119643" y="342766"/>
            <a:ext cx="74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AU" b="1" dirty="0"/>
              <a:t>HS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3D567-9D90-BBCC-CCE0-CF6E83639F0F}"/>
              </a:ext>
            </a:extLst>
          </p:cNvPr>
          <p:cNvSpPr txBox="1"/>
          <p:nvPr/>
        </p:nvSpPr>
        <p:spPr>
          <a:xfrm>
            <a:off x="3252997" y="922491"/>
            <a:ext cx="25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Domain</a:t>
            </a:r>
            <a:r>
              <a:rPr lang="zh-CN" altLang="en-US" dirty="0"/>
              <a:t> </a:t>
            </a:r>
            <a:r>
              <a:rPr lang="en-AU" altLang="zh-CN" dirty="0"/>
              <a:t>integration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AA246-F21A-67E5-55AB-8C7BF5F33091}"/>
              </a:ext>
            </a:extLst>
          </p:cNvPr>
          <p:cNvSpPr txBox="1"/>
          <p:nvPr/>
        </p:nvSpPr>
        <p:spPr>
          <a:xfrm>
            <a:off x="6740668" y="922491"/>
            <a:ext cx="157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Flux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77CEE0-95BB-BEDB-56F8-A4058D384E64}"/>
              </a:ext>
            </a:extLst>
          </p:cNvPr>
          <p:cNvSpPr txBox="1"/>
          <p:nvPr/>
        </p:nvSpPr>
        <p:spPr>
          <a:xfrm>
            <a:off x="5632057" y="876324"/>
            <a:ext cx="841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178D0-4533-E044-439D-E4064306A0E7}"/>
              </a:ext>
            </a:extLst>
          </p:cNvPr>
          <p:cNvSpPr txBox="1"/>
          <p:nvPr/>
        </p:nvSpPr>
        <p:spPr>
          <a:xfrm>
            <a:off x="8763675" y="922490"/>
            <a:ext cx="45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4938E-84FB-40D2-1CD5-DB33FC15E6CA}"/>
              </a:ext>
            </a:extLst>
          </p:cNvPr>
          <p:cNvSpPr txBox="1"/>
          <p:nvPr/>
        </p:nvSpPr>
        <p:spPr>
          <a:xfrm>
            <a:off x="2373494" y="1822091"/>
            <a:ext cx="291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LHS: Domain integration: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596C6F-F240-F9E0-5D56-2756326D94E9}"/>
              </a:ext>
            </a:extLst>
          </p:cNvPr>
          <p:cNvSpPr txBox="1"/>
          <p:nvPr/>
        </p:nvSpPr>
        <p:spPr>
          <a:xfrm>
            <a:off x="5128124" y="177592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465">
              <a:lnSpc>
                <a:spcPct val="100000"/>
              </a:lnSpc>
              <a:spcAft>
                <a:spcPts val="50"/>
              </a:spcAft>
              <a:buNone/>
            </a:pP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ΔV</a:t>
            </a:r>
            <a:r>
              <a:rPr lang="en-US" sz="1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= V(t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− V(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50C608-C2F2-1B64-1E48-2F8129A9EBB0}"/>
                  </a:ext>
                </a:extLst>
              </p:cNvPr>
              <p:cNvSpPr txBox="1"/>
              <p:nvPr/>
            </p:nvSpPr>
            <p:spPr>
              <a:xfrm>
                <a:off x="8699244" y="1818307"/>
                <a:ext cx="7606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]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50C608-C2F2-1B64-1E48-2F8129A9E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244" y="1818307"/>
                <a:ext cx="760652" cy="369332"/>
              </a:xfrm>
              <a:prstGeom prst="rect">
                <a:avLst/>
              </a:prstGeom>
              <a:blipFill>
                <a:blip r:embed="rId2"/>
                <a:stretch>
                  <a:fillRect l="-6400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1E2BE69-26C3-FBA3-8B5A-1995C3E54B85}"/>
              </a:ext>
            </a:extLst>
          </p:cNvPr>
          <p:cNvSpPr txBox="1"/>
          <p:nvPr/>
        </p:nvSpPr>
        <p:spPr>
          <a:xfrm>
            <a:off x="242762" y="2187639"/>
            <a:ext cx="451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LHS-1</a:t>
            </a:r>
            <a:r>
              <a:rPr lang="en-AU" dirty="0"/>
              <a:t>: SCHISM node-based storage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49993C-56EB-7799-F52C-325A954390D1}"/>
              </a:ext>
            </a:extLst>
          </p:cNvPr>
          <p:cNvSpPr txBox="1"/>
          <p:nvPr/>
        </p:nvSpPr>
        <p:spPr>
          <a:xfrm>
            <a:off x="8370835" y="2758202"/>
            <a:ext cx="82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Node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09FC33-1B6D-EDC3-4E43-72A3F7548C54}"/>
              </a:ext>
            </a:extLst>
          </p:cNvPr>
          <p:cNvSpPr txBox="1"/>
          <p:nvPr/>
        </p:nvSpPr>
        <p:spPr>
          <a:xfrm>
            <a:off x="7422145" y="3179435"/>
            <a:ext cx="82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Node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CAFF20-E571-A106-22DF-F75774C0D114}"/>
              </a:ext>
            </a:extLst>
          </p:cNvPr>
          <p:cNvSpPr txBox="1"/>
          <p:nvPr/>
        </p:nvSpPr>
        <p:spPr>
          <a:xfrm>
            <a:off x="9311524" y="3129222"/>
            <a:ext cx="82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Node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5890A-FCA8-8584-3BF5-B6DF7BF9A100}"/>
              </a:ext>
            </a:extLst>
          </p:cNvPr>
          <p:cNvSpPr txBox="1"/>
          <p:nvPr/>
        </p:nvSpPr>
        <p:spPr>
          <a:xfrm>
            <a:off x="8163952" y="2413913"/>
            <a:ext cx="90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surface</a:t>
            </a:r>
            <a:endParaRPr lang="en-A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71616-A01F-7FA7-0FDA-622FC97220C1}"/>
              </a:ext>
            </a:extLst>
          </p:cNvPr>
          <p:cNvSpPr txBox="1"/>
          <p:nvPr/>
        </p:nvSpPr>
        <p:spPr>
          <a:xfrm>
            <a:off x="8118232" y="4549035"/>
            <a:ext cx="90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bottom</a:t>
            </a:r>
            <a:endParaRPr lang="en-A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C348E0DC-7CE3-DF5F-E5E6-1EBCF75B6634}"/>
              </a:ext>
            </a:extLst>
          </p:cNvPr>
          <p:cNvSpPr/>
          <p:nvPr/>
        </p:nvSpPr>
        <p:spPr>
          <a:xfrm>
            <a:off x="8102230" y="2975334"/>
            <a:ext cx="1165860" cy="30777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AC61788-4D27-C656-731F-0A7E01765E55}"/>
              </a:ext>
            </a:extLst>
          </p:cNvPr>
          <p:cNvSpPr/>
          <p:nvPr/>
        </p:nvSpPr>
        <p:spPr>
          <a:xfrm>
            <a:off x="8111374" y="3988405"/>
            <a:ext cx="1165860" cy="30777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A6F26C-5AFB-9EA9-64D5-1B36D0D5A93F}"/>
              </a:ext>
            </a:extLst>
          </p:cNvPr>
          <p:cNvCxnSpPr>
            <a:stCxn id="27" idx="2"/>
            <a:endCxn id="28" idx="2"/>
          </p:cNvCxnSpPr>
          <p:nvPr/>
        </p:nvCxnSpPr>
        <p:spPr>
          <a:xfrm>
            <a:off x="8102230" y="3283111"/>
            <a:ext cx="9144" cy="1013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896C9B-DECC-2C20-29A2-221BEBAF2076}"/>
              </a:ext>
            </a:extLst>
          </p:cNvPr>
          <p:cNvCxnSpPr/>
          <p:nvPr/>
        </p:nvCxnSpPr>
        <p:spPr>
          <a:xfrm>
            <a:off x="8676016" y="2975334"/>
            <a:ext cx="9144" cy="10130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72156C-D798-6D3E-1BC5-1814E21C8FBE}"/>
              </a:ext>
            </a:extLst>
          </p:cNvPr>
          <p:cNvCxnSpPr/>
          <p:nvPr/>
        </p:nvCxnSpPr>
        <p:spPr>
          <a:xfrm>
            <a:off x="9277234" y="3293417"/>
            <a:ext cx="9144" cy="1013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be 31">
            <a:extLst>
              <a:ext uri="{FF2B5EF4-FFF2-40B4-BE49-F238E27FC236}">
                <a16:creationId xmlns:a16="http://schemas.microsoft.com/office/drawing/2014/main" id="{C4EAAC4A-3CEB-EC0C-7F43-AAF1A9F90BEB}"/>
              </a:ext>
            </a:extLst>
          </p:cNvPr>
          <p:cNvSpPr/>
          <p:nvPr/>
        </p:nvSpPr>
        <p:spPr>
          <a:xfrm>
            <a:off x="10395088" y="2721690"/>
            <a:ext cx="1165860" cy="1728216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1AFE7C-8CDB-8742-8845-E2980E23B570}"/>
              </a:ext>
            </a:extLst>
          </p:cNvPr>
          <p:cNvCxnSpPr>
            <a:cxnSpLocks/>
          </p:cNvCxnSpPr>
          <p:nvPr/>
        </p:nvCxnSpPr>
        <p:spPr>
          <a:xfrm>
            <a:off x="10672837" y="2721690"/>
            <a:ext cx="589788" cy="288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B8AA43-2F61-885B-23B4-1BDBCFAD3909}"/>
              </a:ext>
            </a:extLst>
          </p:cNvPr>
          <p:cNvCxnSpPr>
            <a:cxnSpLocks/>
          </p:cNvCxnSpPr>
          <p:nvPr/>
        </p:nvCxnSpPr>
        <p:spPr>
          <a:xfrm>
            <a:off x="10672837" y="4149076"/>
            <a:ext cx="610362" cy="28874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C108E3-5C4E-3635-6AA8-FCDA19F2A374}"/>
              </a:ext>
            </a:extLst>
          </p:cNvPr>
          <p:cNvCxnSpPr/>
          <p:nvPr/>
        </p:nvCxnSpPr>
        <p:spPr>
          <a:xfrm>
            <a:off x="10672837" y="2758202"/>
            <a:ext cx="0" cy="141837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7B8F57E-6F26-C8C8-7ACF-E2C6043D475A}"/>
              </a:ext>
            </a:extLst>
          </p:cNvPr>
          <p:cNvCxnSpPr>
            <a:cxnSpLocks/>
          </p:cNvCxnSpPr>
          <p:nvPr/>
        </p:nvCxnSpPr>
        <p:spPr>
          <a:xfrm flipH="1" flipV="1">
            <a:off x="10637785" y="4161072"/>
            <a:ext cx="917448" cy="98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3C08C92-EF4D-D236-021A-FF31F0293AD1}"/>
              </a:ext>
            </a:extLst>
          </p:cNvPr>
          <p:cNvCxnSpPr>
            <a:cxnSpLocks/>
          </p:cNvCxnSpPr>
          <p:nvPr/>
        </p:nvCxnSpPr>
        <p:spPr>
          <a:xfrm flipH="1">
            <a:off x="10395088" y="4152063"/>
            <a:ext cx="257175" cy="29784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FB9D78-C036-071B-A69A-FCAE978A3E8E}"/>
              </a:ext>
            </a:extLst>
          </p:cNvPr>
          <p:cNvSpPr txBox="1"/>
          <p:nvPr/>
        </p:nvSpPr>
        <p:spPr>
          <a:xfrm>
            <a:off x="8878898" y="2689024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(x</a:t>
            </a:r>
            <a:r>
              <a:rPr lang="en-AU" sz="1200" dirty="0"/>
              <a:t>1</a:t>
            </a:r>
            <a:r>
              <a:rPr lang="en-AU" dirty="0"/>
              <a:t>,y</a:t>
            </a:r>
            <a:r>
              <a:rPr lang="en-AU" sz="1200" dirty="0"/>
              <a:t>1</a:t>
            </a:r>
            <a:r>
              <a:rPr lang="en-AU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BD708C-9474-EEB6-9DB3-14274D6D396C}"/>
              </a:ext>
            </a:extLst>
          </p:cNvPr>
          <p:cNvSpPr txBox="1"/>
          <p:nvPr/>
        </p:nvSpPr>
        <p:spPr>
          <a:xfrm>
            <a:off x="7331848" y="3354080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(x</a:t>
            </a:r>
            <a:r>
              <a:rPr lang="en-AU" sz="1200" dirty="0"/>
              <a:t>2</a:t>
            </a:r>
            <a:r>
              <a:rPr lang="en-AU" dirty="0"/>
              <a:t>,y</a:t>
            </a:r>
            <a:r>
              <a:rPr lang="en-AU" sz="1200" dirty="0"/>
              <a:t>2</a:t>
            </a:r>
            <a:r>
              <a:rPr lang="en-AU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B0AA13-66AD-51DF-24B8-B8D7488F3558}"/>
              </a:ext>
            </a:extLst>
          </p:cNvPr>
          <p:cNvSpPr txBox="1"/>
          <p:nvPr/>
        </p:nvSpPr>
        <p:spPr>
          <a:xfrm>
            <a:off x="9357244" y="3317934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(x</a:t>
            </a:r>
            <a:r>
              <a:rPr lang="en-AU" sz="1200" dirty="0"/>
              <a:t>3</a:t>
            </a:r>
            <a:r>
              <a:rPr lang="en-AU" dirty="0"/>
              <a:t>,y</a:t>
            </a:r>
            <a:r>
              <a:rPr lang="en-AU" sz="1200" dirty="0"/>
              <a:t>3</a:t>
            </a:r>
            <a:r>
              <a:rPr lang="en-AU" dirty="0"/>
              <a:t>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6863E71-8133-D772-4F99-2132CF8096EE}"/>
              </a:ext>
            </a:extLst>
          </p:cNvPr>
          <p:cNvSpPr/>
          <p:nvPr/>
        </p:nvSpPr>
        <p:spPr>
          <a:xfrm>
            <a:off x="3048762" y="194209"/>
            <a:ext cx="2421454" cy="135137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879DBD-4C97-88CF-3D51-3DEDED607642}"/>
              </a:ext>
            </a:extLst>
          </p:cNvPr>
          <p:cNvGrpSpPr/>
          <p:nvPr/>
        </p:nvGrpSpPr>
        <p:grpSpPr>
          <a:xfrm>
            <a:off x="354241" y="2638371"/>
            <a:ext cx="4859751" cy="2566985"/>
            <a:chOff x="1760131" y="4019888"/>
            <a:chExt cx="4859751" cy="25669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C5A8E2C-25F1-0C41-9108-BE17A10BA1D8}"/>
                    </a:ext>
                  </a:extLst>
                </p:cNvPr>
                <p:cNvSpPr txBox="1"/>
                <p:nvPr/>
              </p:nvSpPr>
              <p:spPr>
                <a:xfrm>
                  <a:off x="1760131" y="4019888"/>
                  <a:ext cx="4859751" cy="25669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/>
                    <a:t>1. Water depth of each node: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/>
                </a:p>
                <a:p>
                  <a:r>
                    <a:rPr lang="en-US" sz="1200" dirty="0"/>
                    <a:t>       </a:t>
                  </a:r>
                  <a:r>
                    <a:rPr lang="en-US" sz="1200" dirty="0">
                      <a:solidFill>
                        <a:srgbClr val="00B0F0"/>
                      </a:solidFill>
                    </a:rPr>
                    <a:t>out2d_*.nc: </a:t>
                  </a:r>
                  <a:r>
                    <a:rPr lang="en-US" sz="1200" dirty="0"/>
                    <a:t>provide elevation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AU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200" dirty="0"/>
                </a:p>
                <a:p>
                  <a:r>
                    <a:rPr lang="en-US" sz="1200" dirty="0">
                      <a:solidFill>
                        <a:srgbClr val="00B0F0"/>
                      </a:solidFill>
                    </a:rPr>
                    <a:t>       hgrid.gr3: </a:t>
                  </a:r>
                  <a:r>
                    <a:rPr lang="en-US" sz="1200" dirty="0"/>
                    <a:t>provide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AU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AU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    For the height of an element: 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b>
                            <m:r>
                              <a:rPr lang="en-AU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n-AU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altLang="zh-C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altLang="zh-C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AU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  <a:p>
                  <a:endParaRPr lang="en-US" sz="1600" dirty="0"/>
                </a:p>
                <a:p>
                  <a:r>
                    <a:rPr lang="en-US" sz="1600" dirty="0"/>
                    <a:t>2. </a:t>
                  </a:r>
                  <a:r>
                    <a:rPr lang="en-US" sz="1600" dirty="0">
                      <a:solidFill>
                        <a:srgbClr val="00B0F0"/>
                      </a:solidFill>
                    </a:rPr>
                    <a:t>hgrid.gr3: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AU" sz="1600" dirty="0"/>
                    <a:t>​=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1)(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1)</m:t>
                              </m:r>
                            </m:e>
                          </m:d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AU" sz="1600" dirty="0"/>
                </a:p>
                <a:p>
                  <a:endParaRPr lang="en-AU" sz="1600" dirty="0"/>
                </a:p>
                <a:p>
                  <a:r>
                    <a:rPr lang="en-AU" sz="1600" dirty="0"/>
                    <a:t>3. </a:t>
                  </a:r>
                  <a:r>
                    <a:rPr lang="en-US" sz="1600" dirty="0">
                      <a:solidFill>
                        <a:srgbClr val="00B0F0"/>
                      </a:solidFill>
                    </a:rPr>
                    <a:t>out2d_*.nc: </a:t>
                  </a:r>
                  <a:r>
                    <a:rPr lang="en-AU" sz="1600" dirty="0" err="1"/>
                    <a:t>dryFlagElement</a:t>
                  </a:r>
                  <a:r>
                    <a:rPr lang="en-AU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C5A8E2C-25F1-0C41-9108-BE17A10BA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0131" y="4019888"/>
                  <a:ext cx="4859751" cy="2566985"/>
                </a:xfrm>
                <a:prstGeom prst="rect">
                  <a:avLst/>
                </a:prstGeom>
                <a:blipFill>
                  <a:blip r:embed="rId3"/>
                  <a:stretch>
                    <a:fillRect l="-627" t="-713" b="-95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7C471D2-ABA1-CAD1-164F-79692B09B963}"/>
                    </a:ext>
                  </a:extLst>
                </p:cNvPr>
                <p:cNvSpPr txBox="1"/>
                <p:nvPr/>
              </p:nvSpPr>
              <p:spPr>
                <a:xfrm>
                  <a:off x="5860029" y="5618207"/>
                  <a:ext cx="6574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AU" sz="1800" dirty="0"/>
                    <a:t>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sz="1800" dirty="0"/>
                    <a:t>]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7C471D2-ABA1-CAD1-164F-79692B09B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0029" y="5618207"/>
                  <a:ext cx="65747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8333" t="-8197" b="-2623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76F2D5-F089-BB23-8087-29FF3FD67007}"/>
                  </a:ext>
                </a:extLst>
              </p:cNvPr>
              <p:cNvSpPr txBox="1"/>
              <p:nvPr/>
            </p:nvSpPr>
            <p:spPr>
              <a:xfrm>
                <a:off x="4315604" y="3581578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76F2D5-F089-BB23-8087-29FF3FD67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604" y="3581578"/>
                <a:ext cx="657478" cy="369332"/>
              </a:xfrm>
              <a:prstGeom prst="rect">
                <a:avLst/>
              </a:prstGeom>
              <a:blipFill>
                <a:blip r:embed="rId5"/>
                <a:stretch>
                  <a:fillRect l="-8333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A6B90A-81C2-CBAD-136F-F078AB880F9D}"/>
                  </a:ext>
                </a:extLst>
              </p:cNvPr>
              <p:cNvSpPr txBox="1"/>
              <p:nvPr/>
            </p:nvSpPr>
            <p:spPr>
              <a:xfrm>
                <a:off x="4575843" y="2621310"/>
                <a:ext cx="5846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A6B90A-81C2-CBAD-136F-F078AB880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843" y="2621310"/>
                <a:ext cx="584650" cy="369332"/>
              </a:xfrm>
              <a:prstGeom prst="rect">
                <a:avLst/>
              </a:prstGeom>
              <a:blipFill>
                <a:blip r:embed="rId6"/>
                <a:stretch>
                  <a:fillRect l="-9375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D8927FB-5B74-9D5D-4F14-A5817E3FA2C1}"/>
              </a:ext>
            </a:extLst>
          </p:cNvPr>
          <p:cNvGrpSpPr/>
          <p:nvPr/>
        </p:nvGrpSpPr>
        <p:grpSpPr>
          <a:xfrm>
            <a:off x="-126394" y="5461270"/>
            <a:ext cx="6116985" cy="570221"/>
            <a:chOff x="-126394" y="5461270"/>
            <a:chExt cx="6116985" cy="5702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7BC034D-AF2E-3443-1958-61660CC705FC}"/>
                    </a:ext>
                  </a:extLst>
                </p:cNvPr>
                <p:cNvSpPr txBox="1"/>
                <p:nvPr/>
              </p:nvSpPr>
              <p:spPr>
                <a:xfrm>
                  <a:off x="-126394" y="5461270"/>
                  <a:ext cx="6097348" cy="570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A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=(1−</m:t>
                        </m:r>
                        <m:sSub>
                          <m:sSubPr>
                            <m:ctrlP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A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A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A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A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7BC034D-AF2E-3443-1958-61660CC705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6394" y="5461270"/>
                  <a:ext cx="6097348" cy="570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FE0FC7A-54CA-29DA-A8D4-76DECBAAC47C}"/>
                    </a:ext>
                  </a:extLst>
                </p:cNvPr>
                <p:cNvSpPr txBox="1"/>
                <p:nvPr/>
              </p:nvSpPr>
              <p:spPr>
                <a:xfrm>
                  <a:off x="5333113" y="5641267"/>
                  <a:ext cx="6574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AU" sz="1800" dirty="0">
                      <a:solidFill>
                        <a:schemeClr val="tx1"/>
                      </a:solidFill>
                    </a:rPr>
                    <a:t>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en-AU" sz="1800" dirty="0">
                      <a:solidFill>
                        <a:schemeClr val="tx1"/>
                      </a:solidFill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FE0FC7A-54CA-29DA-A8D4-76DECBAAC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113" y="5641267"/>
                  <a:ext cx="65747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333" t="-6557" b="-2623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30C05E2-318B-6AB1-5D40-73FBE5FBEA9E}"/>
                  </a:ext>
                </a:extLst>
              </p:cNvPr>
              <p:cNvSpPr txBox="1"/>
              <p:nvPr/>
            </p:nvSpPr>
            <p:spPr>
              <a:xfrm>
                <a:off x="-106757" y="5958458"/>
                <a:ext cx="3938719" cy="899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domain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30C05E2-318B-6AB1-5D40-73FBE5FB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757" y="5958458"/>
                <a:ext cx="3938719" cy="8995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6D0FE80-8342-BC98-53A3-20E2389345F0}"/>
                  </a:ext>
                </a:extLst>
              </p:cNvPr>
              <p:cNvSpPr txBox="1"/>
              <p:nvPr/>
            </p:nvSpPr>
            <p:spPr>
              <a:xfrm>
                <a:off x="3836391" y="6345957"/>
                <a:ext cx="31073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*</a:t>
                </a:r>
                <a:r>
                  <a:rPr lang="en-AU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AU" sz="1200" dirty="0"/>
                  <a:t> is number of element</a:t>
                </a:r>
                <a:endParaRPr lang="en-AU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6D0FE80-8342-BC98-53A3-20E238934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391" y="6345957"/>
                <a:ext cx="3107342" cy="338554"/>
              </a:xfrm>
              <a:prstGeom prst="rect">
                <a:avLst/>
              </a:prstGeom>
              <a:blipFill>
                <a:blip r:embed="rId10"/>
                <a:stretch>
                  <a:fillRect l="-980" t="-5357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B0C5C2C-788B-E001-263A-F8F7213983DF}"/>
                  </a:ext>
                </a:extLst>
              </p:cNvPr>
              <p:cNvSpPr txBox="1"/>
              <p:nvPr/>
            </p:nvSpPr>
            <p:spPr>
              <a:xfrm>
                <a:off x="4860087" y="4280572"/>
                <a:ext cx="31073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200" dirty="0"/>
                  <a:t>(*</a:t>
                </a:r>
                <a:r>
                  <a:rPr lang="en-AU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AU" sz="1200" dirty="0"/>
                  <a:t> is area of the element)</a:t>
                </a:r>
                <a:endParaRPr lang="en-AU" sz="1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B0C5C2C-788B-E001-263A-F8F721398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87" y="4280572"/>
                <a:ext cx="3107342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63E80C3B-00A9-EA3E-D50A-0BBB46A988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3168" y="4702237"/>
            <a:ext cx="1848459" cy="596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D05F0A7-5312-84E4-C03E-13F5B9692F1E}"/>
                  </a:ext>
                </a:extLst>
              </p:cNvPr>
              <p:cNvSpPr txBox="1"/>
              <p:nvPr/>
            </p:nvSpPr>
            <p:spPr>
              <a:xfrm>
                <a:off x="5037040" y="4886606"/>
                <a:ext cx="31073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200" dirty="0"/>
                  <a:t>(*</a:t>
                </a:r>
                <a:r>
                  <a:rPr lang="en-AU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200" dirty="0"/>
                  <a:t>is element dry mask)</a:t>
                </a:r>
                <a:endParaRPr lang="en-AU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D05F0A7-5312-84E4-C03E-13F5B9692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040" y="4886606"/>
                <a:ext cx="3107342" cy="338554"/>
              </a:xfrm>
              <a:prstGeom prst="rect">
                <a:avLst/>
              </a:prstGeom>
              <a:blipFill>
                <a:blip r:embed="rId1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D99B511-EF71-EA3F-F2B0-8F8107F314B2}"/>
                  </a:ext>
                </a:extLst>
              </p:cNvPr>
              <p:cNvSpPr txBox="1"/>
              <p:nvPr/>
            </p:nvSpPr>
            <p:spPr>
              <a:xfrm>
                <a:off x="3048762" y="6263884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D99B511-EF71-EA3F-F2B0-8F8107F3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62" y="6263884"/>
                <a:ext cx="657478" cy="369332"/>
              </a:xfrm>
              <a:prstGeom prst="rect">
                <a:avLst/>
              </a:prstGeom>
              <a:blipFill>
                <a:blip r:embed="rId14"/>
                <a:stretch>
                  <a:fillRect l="-7407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2BA87F0-0883-26DC-3C9C-463A5E87E422}"/>
                  </a:ext>
                </a:extLst>
              </p:cNvPr>
              <p:cNvSpPr txBox="1"/>
              <p:nvPr/>
            </p:nvSpPr>
            <p:spPr>
              <a:xfrm>
                <a:off x="8295339" y="3968267"/>
                <a:ext cx="7990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2BA87F0-0883-26DC-3C9C-463A5E87E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339" y="3968267"/>
                <a:ext cx="79908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2D6E18-012B-0F09-6E9A-94A63823AEB4}"/>
                  </a:ext>
                </a:extLst>
              </p:cNvPr>
              <p:cNvSpPr txBox="1"/>
              <p:nvPr/>
            </p:nvSpPr>
            <p:spPr>
              <a:xfrm>
                <a:off x="7046042" y="5266069"/>
                <a:ext cx="4827707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AU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domain</m:t>
                          </m:r>
                        </m:sub>
                      </m:sSub>
                      <m:r>
                        <a:rPr lang="en-AU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domain</m:t>
                          </m:r>
                        </m:sub>
                      </m:sSub>
                      <m:r>
                        <a:rPr lang="en-AU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AU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domain</m:t>
                          </m:r>
                        </m:sub>
                      </m:sSub>
                      <m:r>
                        <a:rPr lang="en-AU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𝑏𝑒𝑔𝑖𝑛</m:t>
                          </m:r>
                        </m:sub>
                      </m:sSub>
                      <m:r>
                        <a:rPr lang="en-AU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2D6E18-012B-0F09-6E9A-94A63823A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42" y="5266069"/>
                <a:ext cx="4827707" cy="391902"/>
              </a:xfrm>
              <a:prstGeom prst="rect">
                <a:avLst/>
              </a:prstGeom>
              <a:blipFill>
                <a:blip r:embed="rId1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C40D74F-BD0A-68D9-848A-A4B66A74C1C9}"/>
                  </a:ext>
                </a:extLst>
              </p:cNvPr>
              <p:cNvSpPr txBox="1"/>
              <p:nvPr/>
            </p:nvSpPr>
            <p:spPr>
              <a:xfrm>
                <a:off x="11509020" y="5259329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rgbClr val="FF0000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rgbClr val="FF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C40D74F-BD0A-68D9-848A-A4B66A74C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020" y="5259329"/>
                <a:ext cx="657478" cy="369332"/>
              </a:xfrm>
              <a:prstGeom prst="rect">
                <a:avLst/>
              </a:prstGeom>
              <a:blipFill>
                <a:blip r:embed="rId17"/>
                <a:stretch>
                  <a:fillRect l="-8333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E9F613A3-FC83-F262-59A1-4ABA3ED43E48}"/>
              </a:ext>
            </a:extLst>
          </p:cNvPr>
          <p:cNvSpPr txBox="1"/>
          <p:nvPr/>
        </p:nvSpPr>
        <p:spPr>
          <a:xfrm>
            <a:off x="354241" y="5588405"/>
            <a:ext cx="49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4.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E57C7C-D5D2-733A-6D07-3E4F94E00E94}"/>
              </a:ext>
            </a:extLst>
          </p:cNvPr>
          <p:cNvSpPr txBox="1"/>
          <p:nvPr/>
        </p:nvSpPr>
        <p:spPr>
          <a:xfrm>
            <a:off x="410964" y="6254870"/>
            <a:ext cx="49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86974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55AA1F-0B11-14D1-71B9-B354DA02A98F}"/>
              </a:ext>
            </a:extLst>
          </p:cNvPr>
          <p:cNvSpPr txBox="1"/>
          <p:nvPr/>
        </p:nvSpPr>
        <p:spPr>
          <a:xfrm>
            <a:off x="519573" y="885899"/>
            <a:ext cx="451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LHS-2</a:t>
            </a:r>
            <a:r>
              <a:rPr lang="en-AU" dirty="0"/>
              <a:t>: AED element-layer 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081EB-B00A-8C18-33D5-F45BA2F73EF1}"/>
              </a:ext>
            </a:extLst>
          </p:cNvPr>
          <p:cNvSpPr txBox="1"/>
          <p:nvPr/>
        </p:nvSpPr>
        <p:spPr>
          <a:xfrm>
            <a:off x="8440763" y="1112173"/>
            <a:ext cx="90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surface</a:t>
            </a:r>
            <a:endParaRPr lang="en-A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3C61A-DE28-5C21-136F-93E5F60A30B1}"/>
              </a:ext>
            </a:extLst>
          </p:cNvPr>
          <p:cNvSpPr txBox="1"/>
          <p:nvPr/>
        </p:nvSpPr>
        <p:spPr>
          <a:xfrm>
            <a:off x="8395043" y="3247295"/>
            <a:ext cx="90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bottom</a:t>
            </a:r>
            <a:endParaRPr lang="en-A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A6441FE-9CB4-AC4B-4BF1-F4753A41530E}"/>
              </a:ext>
            </a:extLst>
          </p:cNvPr>
          <p:cNvSpPr/>
          <p:nvPr/>
        </p:nvSpPr>
        <p:spPr>
          <a:xfrm>
            <a:off x="8379041" y="1673594"/>
            <a:ext cx="1165860" cy="30777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219560AA-C09D-A9BD-D2BD-DE97BB72A794}"/>
              </a:ext>
            </a:extLst>
          </p:cNvPr>
          <p:cNvSpPr/>
          <p:nvPr/>
        </p:nvSpPr>
        <p:spPr>
          <a:xfrm>
            <a:off x="8388185" y="2686665"/>
            <a:ext cx="1165860" cy="30777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240CC1-51E4-36C6-557D-C20EEEFAF0B6}"/>
              </a:ext>
            </a:extLst>
          </p:cNvPr>
          <p:cNvCxnSpPr>
            <a:stCxn id="10" idx="2"/>
            <a:endCxn id="11" idx="2"/>
          </p:cNvCxnSpPr>
          <p:nvPr/>
        </p:nvCxnSpPr>
        <p:spPr>
          <a:xfrm>
            <a:off x="8379041" y="1981371"/>
            <a:ext cx="9144" cy="1013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695295-DE25-6B44-AB56-24E8AB3B69E4}"/>
              </a:ext>
            </a:extLst>
          </p:cNvPr>
          <p:cNvCxnSpPr/>
          <p:nvPr/>
        </p:nvCxnSpPr>
        <p:spPr>
          <a:xfrm>
            <a:off x="8952827" y="1673594"/>
            <a:ext cx="9144" cy="10130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105C4F-FECB-9ECD-A3D2-AF531F1F167B}"/>
              </a:ext>
            </a:extLst>
          </p:cNvPr>
          <p:cNvCxnSpPr/>
          <p:nvPr/>
        </p:nvCxnSpPr>
        <p:spPr>
          <a:xfrm>
            <a:off x="9554045" y="1991677"/>
            <a:ext cx="9144" cy="1013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be 14">
            <a:extLst>
              <a:ext uri="{FF2B5EF4-FFF2-40B4-BE49-F238E27FC236}">
                <a16:creationId xmlns:a16="http://schemas.microsoft.com/office/drawing/2014/main" id="{EEC5CBDA-722E-08F8-6802-89899F5E3DFD}"/>
              </a:ext>
            </a:extLst>
          </p:cNvPr>
          <p:cNvSpPr/>
          <p:nvPr/>
        </p:nvSpPr>
        <p:spPr>
          <a:xfrm>
            <a:off x="10671899" y="1419950"/>
            <a:ext cx="1165860" cy="1728216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E5DA6C-DD9E-91D1-B100-C86DD72189D3}"/>
              </a:ext>
            </a:extLst>
          </p:cNvPr>
          <p:cNvCxnSpPr>
            <a:cxnSpLocks/>
          </p:cNvCxnSpPr>
          <p:nvPr/>
        </p:nvCxnSpPr>
        <p:spPr>
          <a:xfrm>
            <a:off x="10949648" y="1419950"/>
            <a:ext cx="589788" cy="288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2DF091-DAC6-7FDB-DEFE-80598F26DFEA}"/>
              </a:ext>
            </a:extLst>
          </p:cNvPr>
          <p:cNvCxnSpPr>
            <a:cxnSpLocks/>
          </p:cNvCxnSpPr>
          <p:nvPr/>
        </p:nvCxnSpPr>
        <p:spPr>
          <a:xfrm>
            <a:off x="10949648" y="2847336"/>
            <a:ext cx="610362" cy="28874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CF2FC6-AACA-9C07-7DFD-8EA49FFB4D81}"/>
              </a:ext>
            </a:extLst>
          </p:cNvPr>
          <p:cNvCxnSpPr/>
          <p:nvPr/>
        </p:nvCxnSpPr>
        <p:spPr>
          <a:xfrm>
            <a:off x="10949648" y="1456462"/>
            <a:ext cx="0" cy="141837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338C05-D194-CE67-0E29-FC166D6DCEDB}"/>
              </a:ext>
            </a:extLst>
          </p:cNvPr>
          <p:cNvCxnSpPr>
            <a:cxnSpLocks/>
          </p:cNvCxnSpPr>
          <p:nvPr/>
        </p:nvCxnSpPr>
        <p:spPr>
          <a:xfrm flipH="1" flipV="1">
            <a:off x="10914596" y="2859332"/>
            <a:ext cx="917448" cy="98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87B6F2-B18E-D239-73C4-5EC28309F227}"/>
              </a:ext>
            </a:extLst>
          </p:cNvPr>
          <p:cNvCxnSpPr>
            <a:cxnSpLocks/>
          </p:cNvCxnSpPr>
          <p:nvPr/>
        </p:nvCxnSpPr>
        <p:spPr>
          <a:xfrm flipH="1">
            <a:off x="10671899" y="2850323"/>
            <a:ext cx="257175" cy="29784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AF038F-81B7-861E-819F-FC98DE983A5A}"/>
                  </a:ext>
                </a:extLst>
              </p:cNvPr>
              <p:cNvSpPr txBox="1"/>
              <p:nvPr/>
            </p:nvSpPr>
            <p:spPr>
              <a:xfrm>
                <a:off x="631052" y="1336631"/>
                <a:ext cx="7440522" cy="536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1. Water thickness of each AED layer: </a:t>
                </a:r>
                <a:endParaRPr lang="en-AU" altLang="zh-C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𝐸𝑁𝑉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𝑙𝑎𝑦𝑒𝑟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ℎ𝑡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sz="1600" b="0" dirty="0"/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       </a:t>
                </a:r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                                                        </a:t>
                </a:r>
                <a:r>
                  <a:rPr lang="en-AU" sz="1200" dirty="0" err="1">
                    <a:solidFill>
                      <a:srgbClr val="00B0F0"/>
                    </a:solidFill>
                  </a:rPr>
                  <a:t>aed_data_cmb</a:t>
                </a:r>
                <a:r>
                  <a:rPr lang="en-AU" sz="1200" dirty="0">
                    <a:solidFill>
                      <a:srgbClr val="00B0F0"/>
                    </a:solidFill>
                  </a:rPr>
                  <a:t>_*.nc</a:t>
                </a:r>
                <a:r>
                  <a:rPr lang="en-AU" sz="1000" dirty="0">
                    <a:solidFill>
                      <a:srgbClr val="00B0F0"/>
                    </a:solidFill>
                  </a:rPr>
                  <a:t>: </a:t>
                </a:r>
                <a:r>
                  <a:rPr lang="en-AU" sz="1000" dirty="0"/>
                  <a:t>provides </a:t>
                </a:r>
                <a:r>
                  <a:rPr lang="en-AU" sz="1200" dirty="0" err="1"/>
                  <a:t>ENV_layer_ht</a:t>
                </a:r>
                <a:r>
                  <a:rPr lang="en-US" sz="1000" dirty="0"/>
                  <a:t>       </a:t>
                </a:r>
              </a:p>
              <a:p>
                <a:r>
                  <a:rPr lang="en-US" sz="1200" dirty="0">
                    <a:solidFill>
                      <a:srgbClr val="00B0F0"/>
                    </a:solidFill>
                  </a:rPr>
                  <a:t>                                                        </a:t>
                </a:r>
                <a14:m>
                  <m:oMath xmlns:m="http://schemas.openxmlformats.org/officeDocument/2006/math"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200" dirty="0"/>
                  <a:t>: element index</a:t>
                </a:r>
                <a:endParaRPr lang="en-US" sz="1200" dirty="0"/>
              </a:p>
              <a:p>
                <a:r>
                  <a:rPr lang="en-US" sz="1200" dirty="0">
                    <a:solidFill>
                      <a:srgbClr val="00B0F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AU" altLang="zh-CN" sz="12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</m:t>
                    </m:r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200" dirty="0"/>
                  <a:t>: </a:t>
                </a:r>
                <a:r>
                  <a:rPr lang="en-US" altLang="zh-CN" sz="1200" dirty="0"/>
                  <a:t>active </a:t>
                </a:r>
                <a:r>
                  <a:rPr lang="en-AU" sz="1200" dirty="0"/>
                  <a:t>vertical layer index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2. Total </a:t>
                </a:r>
                <a:r>
                  <a:rPr lang="en-AU" sz="1600" dirty="0"/>
                  <a:t>water-column thickness of one element</a:t>
                </a:r>
                <a:r>
                  <a:rPr lang="en-US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𝐴𝐸𝐷</m:t>
                          </m:r>
                        </m:sup>
                      </m:sSubSup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3. </a:t>
                </a:r>
                <a:r>
                  <a:rPr lang="en-US" sz="1600" dirty="0">
                    <a:solidFill>
                      <a:srgbClr val="00B0F0"/>
                    </a:solidFill>
                  </a:rPr>
                  <a:t>hgrid.gr3: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4. E</a:t>
                </a:r>
                <a:r>
                  <a:rPr lang="en-US" altLang="zh-CN" sz="1600" dirty="0"/>
                  <a:t>lement wet/dry status:</a:t>
                </a:r>
              </a:p>
              <a:p>
                <a:r>
                  <a:rPr lang="en-AU" sz="1100" dirty="0"/>
                  <a:t>       </a:t>
                </a:r>
                <a:r>
                  <a:rPr lang="en-AU" sz="1100" dirty="0">
                    <a:solidFill>
                      <a:srgbClr val="00B0F0"/>
                    </a:solidFill>
                  </a:rPr>
                  <a:t>out2d_*.nc: </a:t>
                </a:r>
                <a:r>
                  <a:rPr lang="en-AU" sz="1100" dirty="0" err="1"/>
                  <a:t>dryFlagElement</a:t>
                </a:r>
                <a:endParaRPr lang="en-US" sz="1100" dirty="0"/>
              </a:p>
              <a:p>
                <a:endParaRPr lang="en-US" sz="1600" dirty="0"/>
              </a:p>
              <a:p>
                <a:r>
                  <a:rPr lang="en-US" sz="1600" dirty="0"/>
                  <a:t>5. </a:t>
                </a:r>
                <a:r>
                  <a:rPr lang="en-US" altLang="zh-CN" sz="1600" dirty="0"/>
                  <a:t>Water volume of one element: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𝐴𝐸𝐷</m:t>
                          </m:r>
                        </m:sup>
                      </m:sSubSup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=(1−</m:t>
                          </m:r>
                          <m:sSub>
                            <m:sSub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Sup>
                        <m:sSubSup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𝐴𝐸𝐷</m:t>
                          </m:r>
                        </m:sup>
                      </m:sSubSup>
                      <m:d>
                        <m:d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=(1−</m:t>
                      </m:r>
                      <m:sSub>
                        <m:sSub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AU" sz="1600" dirty="0"/>
              </a:p>
              <a:p>
                <a:r>
                  <a:rPr lang="en-AU" sz="1600" dirty="0"/>
                  <a:t>6. Domain storage: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𝑑𝑜𝑚𝑎𝑖𝑛</m:t>
                          </m:r>
                        </m:sub>
                        <m:sup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𝐴𝐸𝐷</m:t>
                          </m:r>
                        </m:sup>
                      </m:sSubSup>
                      <m:d>
                        <m:d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𝐴𝐸𝐷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AU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AF038F-81B7-861E-819F-FC98DE983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52" y="1336631"/>
                <a:ext cx="7440522" cy="5360506"/>
              </a:xfrm>
              <a:prstGeom prst="rect">
                <a:avLst/>
              </a:prstGeom>
              <a:blipFill>
                <a:blip r:embed="rId2"/>
                <a:stretch>
                  <a:fillRect l="-492" t="-3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456914-DDAB-E4E5-FEAE-A6D52724ACC3}"/>
                  </a:ext>
                </a:extLst>
              </p:cNvPr>
              <p:cNvSpPr txBox="1"/>
              <p:nvPr/>
            </p:nvSpPr>
            <p:spPr>
              <a:xfrm>
                <a:off x="5696248" y="1552541"/>
                <a:ext cx="5846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456914-DDAB-E4E5-FEAE-A6D52724A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248" y="1552541"/>
                <a:ext cx="584650" cy="369332"/>
              </a:xfrm>
              <a:prstGeom prst="rect">
                <a:avLst/>
              </a:prstGeom>
              <a:blipFill>
                <a:blip r:embed="rId3"/>
                <a:stretch>
                  <a:fillRect l="-8333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BB955B6-D545-E5A4-FD06-7DA231B1120C}"/>
                  </a:ext>
                </a:extLst>
              </p:cNvPr>
              <p:cNvSpPr txBox="1"/>
              <p:nvPr/>
            </p:nvSpPr>
            <p:spPr>
              <a:xfrm>
                <a:off x="5438522" y="6066970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BB955B6-D545-E5A4-FD06-7DA231B11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522" y="6066970"/>
                <a:ext cx="657478" cy="369332"/>
              </a:xfrm>
              <a:prstGeom prst="rect">
                <a:avLst/>
              </a:prstGeom>
              <a:blipFill>
                <a:blip r:embed="rId4"/>
                <a:stretch>
                  <a:fillRect l="-7407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E1C5E03-BE5F-B4E6-9299-DF5BE1A99952}"/>
              </a:ext>
            </a:extLst>
          </p:cNvPr>
          <p:cNvSpPr txBox="1"/>
          <p:nvPr/>
        </p:nvSpPr>
        <p:spPr>
          <a:xfrm>
            <a:off x="2003488" y="219656"/>
            <a:ext cx="291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LHS: Domain integration: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960EDC-6180-BACE-2CF2-270202A67740}"/>
              </a:ext>
            </a:extLst>
          </p:cNvPr>
          <p:cNvSpPr txBox="1"/>
          <p:nvPr/>
        </p:nvSpPr>
        <p:spPr>
          <a:xfrm>
            <a:off x="4758118" y="173489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465">
              <a:lnSpc>
                <a:spcPct val="100000"/>
              </a:lnSpc>
              <a:spcAft>
                <a:spcPts val="50"/>
              </a:spcAft>
              <a:buNone/>
            </a:pP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ΔV</a:t>
            </a:r>
            <a:r>
              <a:rPr lang="en-US" sz="1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= V(t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− V(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95B0027-C294-254E-FA5E-4511D0D0777A}"/>
                  </a:ext>
                </a:extLst>
              </p:cNvPr>
              <p:cNvSpPr txBox="1"/>
              <p:nvPr/>
            </p:nvSpPr>
            <p:spPr>
              <a:xfrm>
                <a:off x="8329238" y="215872"/>
                <a:ext cx="7606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]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95B0027-C294-254E-FA5E-4511D0D07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238" y="215872"/>
                <a:ext cx="760652" cy="369332"/>
              </a:xfrm>
              <a:prstGeom prst="rect">
                <a:avLst/>
              </a:prstGeom>
              <a:blipFill>
                <a:blip r:embed="rId5"/>
                <a:stretch>
                  <a:fillRect l="-6400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AF7E17-565A-E126-24E9-03A578A9C003}"/>
                  </a:ext>
                </a:extLst>
              </p:cNvPr>
              <p:cNvSpPr txBox="1"/>
              <p:nvPr/>
            </p:nvSpPr>
            <p:spPr>
              <a:xfrm>
                <a:off x="8409895" y="2247770"/>
                <a:ext cx="1439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Element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AF7E17-565A-E126-24E9-03A578A9C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95" y="2247770"/>
                <a:ext cx="1439044" cy="369332"/>
              </a:xfrm>
              <a:prstGeom prst="rect">
                <a:avLst/>
              </a:prstGeom>
              <a:blipFill>
                <a:blip r:embed="rId6"/>
                <a:stretch>
                  <a:fillRect l="-3814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72278E-B5D9-47B8-7B0F-C339D1ABF7C1}"/>
                  </a:ext>
                </a:extLst>
              </p:cNvPr>
              <p:cNvSpPr txBox="1"/>
              <p:nvPr/>
            </p:nvSpPr>
            <p:spPr>
              <a:xfrm>
                <a:off x="8580715" y="2671277"/>
                <a:ext cx="7990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72278E-B5D9-47B8-7B0F-C339D1ABF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715" y="2671277"/>
                <a:ext cx="7990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E928DC-5370-06CE-F25A-34DB637F5981}"/>
                  </a:ext>
                </a:extLst>
              </p:cNvPr>
              <p:cNvSpPr txBox="1"/>
              <p:nvPr/>
            </p:nvSpPr>
            <p:spPr>
              <a:xfrm>
                <a:off x="5310851" y="3153377"/>
                <a:ext cx="5846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E928DC-5370-06CE-F25A-34DB637F5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851" y="3153377"/>
                <a:ext cx="584650" cy="369332"/>
              </a:xfrm>
              <a:prstGeom prst="rect">
                <a:avLst/>
              </a:prstGeom>
              <a:blipFill>
                <a:blip r:embed="rId8"/>
                <a:stretch>
                  <a:fillRect l="-8333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FA7757-FBB7-B5F8-8DCA-84E35D91106E}"/>
                  </a:ext>
                </a:extLst>
              </p:cNvPr>
              <p:cNvSpPr txBox="1"/>
              <p:nvPr/>
            </p:nvSpPr>
            <p:spPr>
              <a:xfrm>
                <a:off x="7031420" y="5152037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FA7757-FBB7-B5F8-8DCA-84E35D91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420" y="5152037"/>
                <a:ext cx="657478" cy="369332"/>
              </a:xfrm>
              <a:prstGeom prst="rect">
                <a:avLst/>
              </a:prstGeom>
              <a:blipFill>
                <a:blip r:embed="rId9"/>
                <a:stretch>
                  <a:fillRect l="-7407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4F2395-430C-B156-682D-573FC62936AA}"/>
              </a:ext>
            </a:extLst>
          </p:cNvPr>
          <p:cNvCxnSpPr>
            <a:cxnSpLocks/>
          </p:cNvCxnSpPr>
          <p:nvPr/>
        </p:nvCxnSpPr>
        <p:spPr>
          <a:xfrm>
            <a:off x="8379041" y="2290780"/>
            <a:ext cx="11750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538EE59-E66F-8EFC-1F5B-DDB3C680C11C}"/>
              </a:ext>
            </a:extLst>
          </p:cNvPr>
          <p:cNvCxnSpPr>
            <a:cxnSpLocks/>
          </p:cNvCxnSpPr>
          <p:nvPr/>
        </p:nvCxnSpPr>
        <p:spPr>
          <a:xfrm flipV="1">
            <a:off x="8394151" y="2671277"/>
            <a:ext cx="1153928" cy="153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EC06FBD-3C61-2AE7-BB6D-E055F18E2247}"/>
              </a:ext>
            </a:extLst>
          </p:cNvPr>
          <p:cNvSpPr txBox="1"/>
          <p:nvPr/>
        </p:nvSpPr>
        <p:spPr>
          <a:xfrm>
            <a:off x="9526613" y="1975309"/>
            <a:ext cx="494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E07DED-565F-87DC-F69C-FAEBEEA65102}"/>
              </a:ext>
            </a:extLst>
          </p:cNvPr>
          <p:cNvSpPr txBox="1"/>
          <p:nvPr/>
        </p:nvSpPr>
        <p:spPr>
          <a:xfrm>
            <a:off x="9526613" y="2326733"/>
            <a:ext cx="494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149C61-B1F3-807B-9FF7-2B2D0975769E}"/>
              </a:ext>
            </a:extLst>
          </p:cNvPr>
          <p:cNvSpPr txBox="1"/>
          <p:nvPr/>
        </p:nvSpPr>
        <p:spPr>
          <a:xfrm>
            <a:off x="9535757" y="2678157"/>
            <a:ext cx="494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603263F-2EC1-DC72-59F7-41598EAF5EC3}"/>
                  </a:ext>
                </a:extLst>
              </p:cNvPr>
              <p:cNvSpPr txBox="1"/>
              <p:nvPr/>
            </p:nvSpPr>
            <p:spPr>
              <a:xfrm>
                <a:off x="2078583" y="3624469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603263F-2EC1-DC72-59F7-41598EAF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583" y="3624469"/>
                <a:ext cx="657478" cy="369332"/>
              </a:xfrm>
              <a:prstGeom prst="rect">
                <a:avLst/>
              </a:prstGeom>
              <a:blipFill>
                <a:blip r:embed="rId10"/>
                <a:stretch>
                  <a:fillRect l="-8333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EA1A803-DD38-E2E5-F2F4-40FE2F0E9AC4}"/>
                  </a:ext>
                </a:extLst>
              </p:cNvPr>
              <p:cNvSpPr txBox="1"/>
              <p:nvPr/>
            </p:nvSpPr>
            <p:spPr>
              <a:xfrm>
                <a:off x="6834541" y="3892836"/>
                <a:ext cx="5090524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AU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𝑑𝑜𝑚𝑎𝑖𝑛</m:t>
                        </m:r>
                      </m:sub>
                      <m:sup>
                        <m:r>
                          <a:rPr lang="en-AU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𝐴𝐸𝐷</m:t>
                        </m:r>
                      </m:sup>
                    </m:sSubSup>
                    <m:r>
                      <a:rPr lang="en-AU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𝑑𝑜𝑚𝑎𝑖𝑛</m:t>
                        </m:r>
                      </m:sub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𝐴𝐸𝐷</m:t>
                        </m:r>
                      </m:sup>
                    </m:sSubSup>
                    <m:d>
                      <m:dPr>
                        <m:ctrlP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e>
                    </m:d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𝑑𝑜𝑚𝑎𝑖𝑛</m:t>
                        </m:r>
                      </m:sub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𝐴𝐸𝐷</m:t>
                        </m:r>
                      </m:sup>
                    </m:sSubSup>
                    <m:d>
                      <m:dPr>
                        <m:ctrlP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A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𝑏𝑒𝑔𝑖𝑛</m:t>
                            </m:r>
                          </m:sub>
                        </m:sSub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EA1A803-DD38-E2E5-F2F4-40FE2F0E9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541" y="3892836"/>
                <a:ext cx="5090524" cy="411651"/>
              </a:xfrm>
              <a:prstGeom prst="rect">
                <a:avLst/>
              </a:prstGeom>
              <a:blipFill>
                <a:blip r:embed="rId11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9FC74-BB4C-94FC-3DF0-7D505163266D}"/>
                  </a:ext>
                </a:extLst>
              </p:cNvPr>
              <p:cNvSpPr txBox="1"/>
              <p:nvPr/>
            </p:nvSpPr>
            <p:spPr>
              <a:xfrm>
                <a:off x="11134156" y="3892836"/>
                <a:ext cx="6574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rgbClr val="FF0000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rgbClr val="FF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9FC74-BB4C-94FC-3DF0-7D5051632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4156" y="3892836"/>
                <a:ext cx="657478" cy="369332"/>
              </a:xfrm>
              <a:prstGeom prst="rect">
                <a:avLst/>
              </a:prstGeom>
              <a:blipFill>
                <a:blip r:embed="rId12"/>
                <a:stretch>
                  <a:fillRect l="-7407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>
            <a:extLst>
              <a:ext uri="{FF2B5EF4-FFF2-40B4-BE49-F238E27FC236}">
                <a16:creationId xmlns:a16="http://schemas.microsoft.com/office/drawing/2014/main" id="{107CEB2B-FB49-438B-C810-90AE0CB7E5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8971" y="4049683"/>
            <a:ext cx="1900949" cy="5378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A6BC65A-CDE3-AEA8-B406-A5BD6168950D}"/>
                  </a:ext>
                </a:extLst>
              </p:cNvPr>
              <p:cNvSpPr txBox="1"/>
              <p:nvPr/>
            </p:nvSpPr>
            <p:spPr>
              <a:xfrm>
                <a:off x="2546244" y="3691284"/>
                <a:ext cx="31073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200" dirty="0"/>
                  <a:t>*</a:t>
                </a:r>
                <a:r>
                  <a:rPr lang="en-US" altLang="zh-CN" sz="1200" dirty="0"/>
                  <a:t>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200" dirty="0"/>
                  <a:t> as LHS-1</a:t>
                </a:r>
                <a:endParaRPr lang="en-AU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A6BC65A-CDE3-AEA8-B406-A5BD6168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244" y="3691284"/>
                <a:ext cx="3107342" cy="276999"/>
              </a:xfrm>
              <a:prstGeom prst="rect">
                <a:avLst/>
              </a:prstGeom>
              <a:blipFill>
                <a:blip r:embed="rId14"/>
                <a:stretch>
                  <a:fillRect l="-196" t="-2222" b="-1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7D98061-AFA5-E8B1-AD77-8EEC5E668BD9}"/>
                  </a:ext>
                </a:extLst>
              </p:cNvPr>
              <p:cNvSpPr txBox="1"/>
              <p:nvPr/>
            </p:nvSpPr>
            <p:spPr>
              <a:xfrm>
                <a:off x="5895501" y="6058889"/>
                <a:ext cx="31073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*</a:t>
                </a:r>
                <a:r>
                  <a:rPr lang="en-AU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AU" sz="1200" dirty="0"/>
                  <a:t> is number of element </a:t>
                </a:r>
                <a:r>
                  <a:rPr lang="en-US" altLang="zh-CN" sz="1200" dirty="0"/>
                  <a:t>in the domain</a:t>
                </a:r>
                <a:endParaRPr lang="en-AU" sz="16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7D98061-AFA5-E8B1-AD77-8EEC5E66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501" y="6058889"/>
                <a:ext cx="3107342" cy="338554"/>
              </a:xfrm>
              <a:prstGeom prst="rect">
                <a:avLst/>
              </a:prstGeom>
              <a:blipFill>
                <a:blip r:embed="rId15"/>
                <a:stretch>
                  <a:fillRect l="-980" t="-5455" b="-2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41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089288-E18E-098B-5D8F-08532DECC079}"/>
              </a:ext>
            </a:extLst>
          </p:cNvPr>
          <p:cNvSpPr txBox="1"/>
          <p:nvPr/>
        </p:nvSpPr>
        <p:spPr>
          <a:xfrm>
            <a:off x="3277275" y="142127"/>
            <a:ext cx="74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BD609-CBD9-9E87-738B-4089D0A79FC1}"/>
              </a:ext>
            </a:extLst>
          </p:cNvPr>
          <p:cNvSpPr txBox="1"/>
          <p:nvPr/>
        </p:nvSpPr>
        <p:spPr>
          <a:xfrm>
            <a:off x="6601753" y="142127"/>
            <a:ext cx="74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AU" b="1" dirty="0"/>
              <a:t>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9507E-185C-01D2-6607-DA01184A8AD1}"/>
              </a:ext>
            </a:extLst>
          </p:cNvPr>
          <p:cNvSpPr txBox="1"/>
          <p:nvPr/>
        </p:nvSpPr>
        <p:spPr>
          <a:xfrm>
            <a:off x="2735107" y="721852"/>
            <a:ext cx="25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Domain</a:t>
            </a:r>
            <a:r>
              <a:rPr lang="zh-CN" altLang="en-US" dirty="0"/>
              <a:t> </a:t>
            </a:r>
            <a:r>
              <a:rPr lang="en-AU" altLang="zh-CN" dirty="0"/>
              <a:t>integration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5835BB-02FD-A0C7-13FC-A5119AEA94E5}"/>
              </a:ext>
            </a:extLst>
          </p:cNvPr>
          <p:cNvSpPr txBox="1"/>
          <p:nvPr/>
        </p:nvSpPr>
        <p:spPr>
          <a:xfrm>
            <a:off x="6222778" y="721852"/>
            <a:ext cx="157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Flux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EE5796-398E-F3FD-8F3B-175C9C61CA57}"/>
              </a:ext>
            </a:extLst>
          </p:cNvPr>
          <p:cNvSpPr txBox="1"/>
          <p:nvPr/>
        </p:nvSpPr>
        <p:spPr>
          <a:xfrm>
            <a:off x="5114167" y="675685"/>
            <a:ext cx="841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6D2C2-0301-9086-8F91-B132141B9392}"/>
              </a:ext>
            </a:extLst>
          </p:cNvPr>
          <p:cNvSpPr txBox="1"/>
          <p:nvPr/>
        </p:nvSpPr>
        <p:spPr>
          <a:xfrm>
            <a:off x="8245785" y="721851"/>
            <a:ext cx="45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62AEC0-2DED-B80E-BF9A-2575042F3DFA}"/>
              </a:ext>
            </a:extLst>
          </p:cNvPr>
          <p:cNvSpPr/>
          <p:nvPr/>
        </p:nvSpPr>
        <p:spPr>
          <a:xfrm>
            <a:off x="6135493" y="0"/>
            <a:ext cx="2421454" cy="135137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237FA-8605-0C97-065A-2170ECD59897}"/>
              </a:ext>
            </a:extLst>
          </p:cNvPr>
          <p:cNvSpPr txBox="1"/>
          <p:nvPr/>
        </p:nvSpPr>
        <p:spPr>
          <a:xfrm>
            <a:off x="218485" y="1561763"/>
            <a:ext cx="1009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RHS-M</a:t>
            </a:r>
            <a:r>
              <a:rPr lang="en-US" altLang="zh-CN" dirty="0" err="1">
                <a:solidFill>
                  <a:srgbClr val="FF0000"/>
                </a:solidFill>
              </a:rPr>
              <a:t>ethod</a:t>
            </a:r>
            <a:r>
              <a:rPr lang="en-US" altLang="zh-CN" dirty="0">
                <a:solidFill>
                  <a:srgbClr val="FF0000"/>
                </a:solidFill>
              </a:rPr>
              <a:t> B: </a:t>
            </a:r>
            <a:r>
              <a:rPr lang="en-US" altLang="zh-CN" dirty="0"/>
              <a:t>N</a:t>
            </a:r>
            <a:r>
              <a:rPr lang="en-AU" dirty="0"/>
              <a:t>ode-based reconstruction of edge-layer water flux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87A6E8-84CA-D977-C0A7-B9ABEAAD3D48}"/>
                  </a:ext>
                </a:extLst>
              </p:cNvPr>
              <p:cNvSpPr txBox="1"/>
              <p:nvPr/>
            </p:nvSpPr>
            <p:spPr>
              <a:xfrm>
                <a:off x="218485" y="2039193"/>
                <a:ext cx="7719802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AU" sz="1600" dirty="0"/>
                  <a:t>Wet /dry check</a:t>
                </a:r>
              </a:p>
              <a:p>
                <a:r>
                  <a:rPr lang="en-AU" sz="1600" dirty="0"/>
                  <a:t>        </a:t>
                </a:r>
                <a:r>
                  <a:rPr lang="en-AU" sz="1100" dirty="0">
                    <a:solidFill>
                      <a:srgbClr val="00B0F0"/>
                    </a:solidFill>
                  </a:rPr>
                  <a:t>out2d_*.nc: </a:t>
                </a:r>
                <a:r>
                  <a:rPr lang="en-AU" sz="1100" dirty="0" err="1"/>
                  <a:t>dryFlagElement</a:t>
                </a:r>
                <a:endParaRPr lang="en-AU" sz="1100" dirty="0"/>
              </a:p>
              <a:p>
                <a:r>
                  <a:rPr lang="en-AU" sz="1100" dirty="0"/>
                  <a:t>           </a:t>
                </a:r>
                <a:r>
                  <a:rPr lang="en-AU" sz="1100" dirty="0">
                    <a:highlight>
                      <a:srgbClr val="FFFF00"/>
                    </a:highlight>
                  </a:rPr>
                  <a:t>*For a shared internal edge, flux is calculated only when both adjacent elements are wet.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=(1−</m:t>
                      </m:r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𝑒𝐿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1100" dirty="0"/>
              </a:p>
              <a:p>
                <a:r>
                  <a:rPr lang="en-AU" sz="11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sz="1100" dirty="0"/>
                  <a:t>=1: active wet edge;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sz="1100" dirty="0"/>
                  <a:t>=0: exclude edge;</a:t>
                </a:r>
              </a:p>
              <a:p>
                <a:r>
                  <a:rPr lang="en-AU" sz="1100" b="0" dirty="0"/>
                  <a:t>	</a:t>
                </a:r>
                <a14:m>
                  <m:oMath xmlns:m="http://schemas.openxmlformats.org/officeDocument/2006/math">
                    <m:r>
                      <a:rPr lang="en-AU" sz="1100" b="0" i="1" smtClean="0">
                        <a:latin typeface="Cambria Math" panose="02040503050406030204" pitchFamily="18" charset="0"/>
                      </a:rPr>
                      <m:t>𝑒𝐿</m:t>
                    </m:r>
                  </m:oMath>
                </a14:m>
                <a:r>
                  <a:rPr lang="en-AU" sz="1100" dirty="0"/>
                  <a:t>: element on the left side of edge s; </a:t>
                </a:r>
                <a14:m>
                  <m:oMath xmlns:m="http://schemas.openxmlformats.org/officeDocument/2006/math">
                    <m:r>
                      <a:rPr lang="en-AU" sz="1100" b="0" i="1" smtClean="0">
                        <a:latin typeface="Cambria Math" panose="02040503050406030204" pitchFamily="18" charset="0"/>
                      </a:rPr>
                      <m:t>𝑒𝑅</m:t>
                    </m:r>
                  </m:oMath>
                </a14:m>
                <a:r>
                  <a:rPr lang="en-AU" sz="1100" dirty="0"/>
                  <a:t>: element on the right side of edge 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87A6E8-84CA-D977-C0A7-B9ABEAAD3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85" y="2039193"/>
                <a:ext cx="7719802" cy="1338828"/>
              </a:xfrm>
              <a:prstGeom prst="rect">
                <a:avLst/>
              </a:prstGeom>
              <a:blipFill>
                <a:blip r:embed="rId2"/>
                <a:stretch>
                  <a:fillRect l="-474" t="-1370" b="-22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86E7B35B-4349-61BC-10BB-1B825378F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84" y="2039193"/>
            <a:ext cx="1741781" cy="492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843525-6928-6824-856E-337E2FEA7FEA}"/>
                  </a:ext>
                </a:extLst>
              </p:cNvPr>
              <p:cNvSpPr txBox="1"/>
              <p:nvPr/>
            </p:nvSpPr>
            <p:spPr>
              <a:xfrm>
                <a:off x="161841" y="4112517"/>
                <a:ext cx="5243639" cy="2669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2</a:t>
                </a:r>
                <a:r>
                  <a:rPr lang="en-AU" sz="1400" dirty="0"/>
                  <a:t>. </a:t>
                </a:r>
                <a:r>
                  <a:rPr lang="en-AU" sz="1600" dirty="0"/>
                  <a:t>Node-based velocity at each vertical layer</a:t>
                </a:r>
              </a:p>
              <a:p>
                <a:r>
                  <a:rPr lang="en-AU" sz="1100" dirty="0"/>
                  <a:t>       For an active wet edge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AU" sz="1200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sz="1200" dirty="0"/>
                  <a:t>      At vertical layer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12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1200" dirty="0"/>
              </a:p>
              <a:p>
                <a:endParaRPr lang="en-AU" altLang="zh-CN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sz="12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1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AU" sz="1200" dirty="0"/>
                  <a:t>: two nodes defining edge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AU" sz="1200" dirty="0"/>
              </a:p>
              <a:p>
                <a:r>
                  <a:rPr lang="en-AU" sz="1200" b="0" dirty="0"/>
                  <a:t>  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200" dirty="0"/>
                  <a:t>: active vertical layer index</a:t>
                </a:r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horizontalVelX_*.nc: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AU" sz="1200" dirty="0"/>
                  <a:t>,</a:t>
                </a:r>
                <a:r>
                  <a:rPr lang="en-AU" sz="1200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AU" sz="1200" dirty="0">
                  <a:solidFill>
                    <a:srgbClr val="00B0F0"/>
                  </a:solidFill>
                </a:endParaRPr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horizontalVelY_*.nc: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AU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AU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843525-6928-6824-856E-337E2FEA7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41" y="4112517"/>
                <a:ext cx="5243639" cy="2669962"/>
              </a:xfrm>
              <a:prstGeom prst="rect">
                <a:avLst/>
              </a:prstGeom>
              <a:blipFill>
                <a:blip r:embed="rId4"/>
                <a:stretch>
                  <a:fillRect l="-698" t="-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DDB38C6-728E-2F05-9F76-7FB6A73E9B7D}"/>
              </a:ext>
            </a:extLst>
          </p:cNvPr>
          <p:cNvGrpSpPr/>
          <p:nvPr/>
        </p:nvGrpSpPr>
        <p:grpSpPr>
          <a:xfrm>
            <a:off x="1974455" y="4620348"/>
            <a:ext cx="1618409" cy="646331"/>
            <a:chOff x="4477591" y="3646327"/>
            <a:chExt cx="1618409" cy="64633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2BF699-9D5B-6607-1526-F5089382F9AA}"/>
                </a:ext>
              </a:extLst>
            </p:cNvPr>
            <p:cNvCxnSpPr/>
            <p:nvPr/>
          </p:nvCxnSpPr>
          <p:spPr>
            <a:xfrm>
              <a:off x="4903770" y="3923327"/>
              <a:ext cx="783580" cy="0"/>
            </a:xfrm>
            <a:prstGeom prst="line">
              <a:avLst/>
            </a:prstGeom>
            <a:ln w="3810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3CCBC28-C373-D4B4-EBD7-8D2167245E27}"/>
                    </a:ext>
                  </a:extLst>
                </p:cNvPr>
                <p:cNvSpPr txBox="1"/>
                <p:nvPr/>
              </p:nvSpPr>
              <p:spPr>
                <a:xfrm>
                  <a:off x="4477591" y="3646328"/>
                  <a:ext cx="7040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/>
                    <a:t>Node </a:t>
                  </a:r>
                  <a14:m>
                    <m:oMath xmlns:m="http://schemas.openxmlformats.org/officeDocument/2006/math">
                      <m:r>
                        <a:rPr lang="en-AU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AU" sz="12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3CCBC28-C373-D4B4-EBD7-8D2167245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7591" y="3646328"/>
                  <a:ext cx="7040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870" t="-2222" b="-17778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D0D04E0-20ED-C61A-F84C-8FBC39217419}"/>
                    </a:ext>
                  </a:extLst>
                </p:cNvPr>
                <p:cNvSpPr txBox="1"/>
                <p:nvPr/>
              </p:nvSpPr>
              <p:spPr>
                <a:xfrm>
                  <a:off x="5391994" y="3646327"/>
                  <a:ext cx="7040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/>
                    <a:t>Node </a:t>
                  </a:r>
                  <a14:m>
                    <m:oMath xmlns:m="http://schemas.openxmlformats.org/officeDocument/2006/math">
                      <m:r>
                        <a:rPr lang="en-AU" altLang="zh-CN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endParaRPr lang="en-AU" sz="12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D0D04E0-20ED-C61A-F84C-8FBC39217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1994" y="3646327"/>
                  <a:ext cx="70400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870" t="-2222" b="-17778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3670511-7644-8B29-2C51-CE8501D2A4CE}"/>
                    </a:ext>
                  </a:extLst>
                </p:cNvPr>
                <p:cNvSpPr txBox="1"/>
                <p:nvPr/>
              </p:nvSpPr>
              <p:spPr>
                <a:xfrm>
                  <a:off x="4943557" y="3923326"/>
                  <a:ext cx="7040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3670511-7644-8B29-2C51-CE8501D2A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557" y="3923326"/>
                  <a:ext cx="70400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EAAC05-AF4A-FAFD-88FB-88DB7DEF888A}"/>
                  </a:ext>
                </a:extLst>
              </p:cNvPr>
              <p:cNvSpPr txBox="1"/>
              <p:nvPr/>
            </p:nvSpPr>
            <p:spPr>
              <a:xfrm>
                <a:off x="6096001" y="2285579"/>
                <a:ext cx="6416478" cy="357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3. Define edge length and normal </a:t>
                </a:r>
                <a:r>
                  <a:rPr lang="en-US" altLang="zh-CN" sz="1600" dirty="0"/>
                  <a:t>velocity</a:t>
                </a:r>
                <a:endParaRPr lang="en-AU" sz="1600" dirty="0"/>
              </a:p>
              <a:p>
                <a:endParaRPr lang="en-AU" sz="1600" dirty="0"/>
              </a:p>
              <a:p>
                <a:r>
                  <a:rPr lang="en-AU" sz="1400" dirty="0"/>
                  <a:t>      The</a:t>
                </a:r>
                <a:r>
                  <a:rPr lang="zh-CN" altLang="en-US" sz="1400" dirty="0"/>
                  <a:t> </a:t>
                </a:r>
                <a:r>
                  <a:rPr lang="en-AU" altLang="zh-CN" sz="1400" dirty="0"/>
                  <a:t>length</a:t>
                </a:r>
                <a:r>
                  <a:rPr lang="zh-CN" altLang="en-US" sz="1400" dirty="0"/>
                  <a:t> </a:t>
                </a:r>
                <a:r>
                  <a:rPr lang="en-AU" altLang="zh-CN" sz="1400" dirty="0"/>
                  <a:t>of</a:t>
                </a:r>
                <a:r>
                  <a:rPr lang="zh-CN" altLang="en-US" sz="1400" dirty="0"/>
                  <a:t> </a:t>
                </a:r>
                <a:r>
                  <a:rPr lang="en-AU" altLang="zh-CN" sz="1400" dirty="0"/>
                  <a:t>the edge </a:t>
                </a:r>
                <a14:m>
                  <m:oMath xmlns:m="http://schemas.openxmlformats.org/officeDocument/2006/math">
                    <m:r>
                      <a:rPr lang="en-AU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400" dirty="0"/>
                  <a:t>:</a:t>
                </a:r>
              </a:p>
              <a:p>
                <a:endParaRPr lang="en-AU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sz="1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      Then define the components of the unit normal: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AU" sz="1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AU" sz="1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1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200" dirty="0"/>
                  <a:t>      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AU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AU" sz="1200" dirty="0"/>
                  <a:t> are the x- and y-components of the direction perpendicular to edge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200" dirty="0"/>
                  <a:t>.</a:t>
                </a:r>
              </a:p>
              <a:p>
                <a:endParaRPr lang="en-AU" sz="1200" dirty="0"/>
              </a:p>
              <a:p>
                <a:r>
                  <a:rPr lang="en-AU" sz="1400" dirty="0"/>
                  <a:t>      Velocity normal to the edge: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       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AU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sz="1100" dirty="0"/>
                  <a:t> is the velocity component crossing the edge.</a:t>
                </a:r>
              </a:p>
              <a:p>
                <a:endParaRPr lang="en-AU" sz="1100" dirty="0"/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hgrid.gr3: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EAAC05-AF4A-FAFD-88FB-88DB7DEF8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285579"/>
                <a:ext cx="6416478" cy="3574505"/>
              </a:xfrm>
              <a:prstGeom prst="rect">
                <a:avLst/>
              </a:prstGeom>
              <a:blipFill>
                <a:blip r:embed="rId8"/>
                <a:stretch>
                  <a:fillRect l="-475" t="-5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3767AB7-AF8D-08EF-992F-03F97232D904}"/>
              </a:ext>
            </a:extLst>
          </p:cNvPr>
          <p:cNvGrpSpPr/>
          <p:nvPr/>
        </p:nvGrpSpPr>
        <p:grpSpPr>
          <a:xfrm>
            <a:off x="9856102" y="2531965"/>
            <a:ext cx="1933650" cy="646331"/>
            <a:chOff x="9791366" y="4453958"/>
            <a:chExt cx="1933650" cy="64633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F3E5354-4F4D-9CAF-D199-1B9842BEDBA7}"/>
                </a:ext>
              </a:extLst>
            </p:cNvPr>
            <p:cNvGrpSpPr/>
            <p:nvPr/>
          </p:nvGrpSpPr>
          <p:grpSpPr>
            <a:xfrm>
              <a:off x="9791366" y="4453958"/>
              <a:ext cx="1779908" cy="646331"/>
              <a:chOff x="4316092" y="3646327"/>
              <a:chExt cx="1779908" cy="646331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1AEF3B5-0F77-7486-2A10-8B0AFEB15DAB}"/>
                  </a:ext>
                </a:extLst>
              </p:cNvPr>
              <p:cNvCxnSpPr/>
              <p:nvPr/>
            </p:nvCxnSpPr>
            <p:spPr>
              <a:xfrm>
                <a:off x="4903770" y="3923327"/>
                <a:ext cx="783580" cy="0"/>
              </a:xfrm>
              <a:prstGeom prst="line">
                <a:avLst/>
              </a:prstGeom>
              <a:ln w="38100"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41013B95-5D54-28BB-907C-89584295BA09}"/>
                      </a:ext>
                    </a:extLst>
                  </p:cNvPr>
                  <p:cNvSpPr txBox="1"/>
                  <p:nvPr/>
                </p:nvSpPr>
                <p:spPr>
                  <a:xfrm>
                    <a:off x="4316092" y="3646327"/>
                    <a:ext cx="704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200" dirty="0"/>
                      <a:t>Node </a:t>
                    </a:r>
                    <a14:m>
                      <m:oMath xmlns:m="http://schemas.openxmlformats.org/officeDocument/2006/math"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AU" sz="1200" dirty="0"/>
                      <a:t>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AU" sz="12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41013B95-5D54-28BB-907C-89584295BA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6092" y="3646327"/>
                    <a:ext cx="704006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70" b="-9211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68118030-78B1-965A-CA44-D4B25FC8FCC2}"/>
                      </a:ext>
                    </a:extLst>
                  </p:cNvPr>
                  <p:cNvSpPr txBox="1"/>
                  <p:nvPr/>
                </p:nvSpPr>
                <p:spPr>
                  <a:xfrm>
                    <a:off x="5391994" y="3646327"/>
                    <a:ext cx="70400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200" dirty="0"/>
                      <a:t>Node </a:t>
                    </a:r>
                    <a14:m>
                      <m:oMath xmlns:m="http://schemas.openxmlformats.org/officeDocument/2006/math"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endParaRPr lang="en-AU" sz="12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68118030-78B1-965A-CA44-D4B25FC8FC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1994" y="3646327"/>
                    <a:ext cx="70400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B6A9CB7-5C19-8209-5C66-5D50C916169C}"/>
                      </a:ext>
                    </a:extLst>
                  </p:cNvPr>
                  <p:cNvSpPr txBox="1"/>
                  <p:nvPr/>
                </p:nvSpPr>
                <p:spPr>
                  <a:xfrm>
                    <a:off x="4943557" y="3923326"/>
                    <a:ext cx="70400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AU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B6A9CB7-5C19-8209-5C66-5D50C91616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3557" y="3923326"/>
                    <a:ext cx="704006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2E503F3-0F17-7257-9E44-ECCF8700C77E}"/>
                    </a:ext>
                  </a:extLst>
                </p:cNvPr>
                <p:cNvSpPr txBox="1"/>
                <p:nvPr/>
              </p:nvSpPr>
              <p:spPr>
                <a:xfrm>
                  <a:off x="11107998" y="4695330"/>
                  <a:ext cx="617018" cy="291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AU" sz="120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AU" sz="12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AU" sz="12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AU" sz="1200" dirty="0"/>
                    <a:t>)</a:t>
                  </a:r>
                  <a:endParaRPr lang="en-AU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2E503F3-0F17-7257-9E44-ECCF8700C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7998" y="4695330"/>
                  <a:ext cx="617018" cy="291875"/>
                </a:xfrm>
                <a:prstGeom prst="rect">
                  <a:avLst/>
                </a:prstGeom>
                <a:blipFill>
                  <a:blip r:embed="rId12"/>
                  <a:stretch>
                    <a:fillRect l="-990" b="-12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32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F1C3D1-8A9B-30AF-8C1F-9027C751DE4A}"/>
                  </a:ext>
                </a:extLst>
              </p:cNvPr>
              <p:cNvSpPr txBox="1"/>
              <p:nvPr/>
            </p:nvSpPr>
            <p:spPr>
              <a:xfrm>
                <a:off x="198783" y="278296"/>
                <a:ext cx="5214788" cy="2422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4. Reconstruct edge-normal velocity at each vertical layer</a:t>
                </a:r>
              </a:p>
              <a:p>
                <a:r>
                  <a:rPr lang="en-AU" sz="1600" dirty="0"/>
                  <a:t>     </a:t>
                </a:r>
                <a:r>
                  <a:rPr lang="en-AU" sz="1200" dirty="0"/>
                  <a:t>Project the nodal velocity onto the edge-normal direction:</a:t>
                </a:r>
              </a:p>
              <a:p>
                <a:endParaRPr lang="en-AU" sz="1400" dirty="0"/>
              </a:p>
              <a:p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      </a:t>
                </a:r>
                <a:r>
                  <a:rPr lang="en-AU" sz="1200" dirty="0"/>
                  <a:t>Average the two nodal normal velocities to the edge: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6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6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  <a:p>
                <a:r>
                  <a:rPr lang="en-AU" sz="16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AU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AU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sz="1400" dirty="0"/>
                  <a:t>: edge-normal velocity at layer </a:t>
                </a:r>
                <a:r>
                  <a:rPr lang="en-AU" sz="1400" b="0" dirty="0"/>
                  <a:t> </a:t>
                </a:r>
                <a14:m>
                  <m:oMath xmlns:m="http://schemas.openxmlformats.org/officeDocument/2006/math">
                    <m:r>
                      <a:rPr lang="en-AU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400" dirty="0"/>
                  <a:t> of edge </a:t>
                </a:r>
                <a14:m>
                  <m:oMath xmlns:m="http://schemas.openxmlformats.org/officeDocument/2006/math">
                    <m:r>
                      <a:rPr lang="en-AU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AU" sz="1400" dirty="0"/>
              </a:p>
              <a:p>
                <a:endParaRPr lang="en-A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F1C3D1-8A9B-30AF-8C1F-9027C751D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3" y="278296"/>
                <a:ext cx="5214788" cy="2422523"/>
              </a:xfrm>
              <a:prstGeom prst="rect">
                <a:avLst/>
              </a:prstGeom>
              <a:blipFill>
                <a:blip r:embed="rId2"/>
                <a:stretch>
                  <a:fillRect l="-702" t="-756" r="-1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871C9D-82E9-3D58-97FC-331625557DF0}"/>
                  </a:ext>
                </a:extLst>
              </p:cNvPr>
              <p:cNvSpPr txBox="1"/>
              <p:nvPr/>
            </p:nvSpPr>
            <p:spPr>
              <a:xfrm>
                <a:off x="-333797" y="857055"/>
                <a:ext cx="6097348" cy="557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AU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871C9D-82E9-3D58-97FC-331625557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3797" y="857055"/>
                <a:ext cx="6097348" cy="557204"/>
              </a:xfrm>
              <a:prstGeom prst="rect">
                <a:avLst/>
              </a:prstGeom>
              <a:blipFill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54A5CF-9B7E-9013-E4A5-EF52990E4877}"/>
                  </a:ext>
                </a:extLst>
              </p:cNvPr>
              <p:cNvSpPr txBox="1"/>
              <p:nvPr/>
            </p:nvSpPr>
            <p:spPr>
              <a:xfrm>
                <a:off x="3819441" y="1700747"/>
                <a:ext cx="687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54A5CF-9B7E-9013-E4A5-EF52990E4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441" y="1700747"/>
                <a:ext cx="687822" cy="369332"/>
              </a:xfrm>
              <a:prstGeom prst="rect">
                <a:avLst/>
              </a:prstGeom>
              <a:blipFill>
                <a:blip r:embed="rId4"/>
                <a:stretch>
                  <a:fillRect l="-8036" t="-819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E88AE9-A52D-C9FE-8029-E1648F539CDA}"/>
                  </a:ext>
                </a:extLst>
              </p:cNvPr>
              <p:cNvSpPr txBox="1"/>
              <p:nvPr/>
            </p:nvSpPr>
            <p:spPr>
              <a:xfrm>
                <a:off x="198782" y="2929317"/>
                <a:ext cx="6315305" cy="14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5. Define the water thickness of each edge layer</a:t>
                </a:r>
              </a:p>
              <a:p>
                <a:r>
                  <a:rPr lang="en-AU" sz="1400" dirty="0"/>
                  <a:t>     </a:t>
                </a:r>
                <a:r>
                  <a:rPr lang="en-AU" sz="1200" dirty="0"/>
                  <a:t>For each active vertical layer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200" dirty="0"/>
                  <a:t>, the layer thickness at edge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200" dirty="0"/>
                  <a:t> as: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1400" dirty="0"/>
              </a:p>
              <a:p>
                <a:r>
                  <a:rPr lang="en-AU" sz="1200" dirty="0">
                    <a:solidFill>
                      <a:srgbClr val="00B0F0"/>
                    </a:solidFill>
                  </a:rPr>
                  <a:t>zCoordinates_*.nc: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sz="1200" dirty="0">
                  <a:solidFill>
                    <a:srgbClr val="00B0F0"/>
                  </a:solidFill>
                </a:endParaRPr>
              </a:p>
              <a:p>
                <a:r>
                  <a:rPr lang="en-AU" sz="1200" dirty="0"/>
                  <a:t>     The cross-sectional area of this edge layer is: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𝑠𝑒𝑐𝑡𝑖𝑜𝑛</m:t>
                          </m:r>
                        </m:sup>
                      </m:sSubSup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U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E88AE9-A52D-C9FE-8029-E1648F539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2" y="2929317"/>
                <a:ext cx="6315305" cy="1455848"/>
              </a:xfrm>
              <a:prstGeom prst="rect">
                <a:avLst/>
              </a:prstGeom>
              <a:blipFill>
                <a:blip r:embed="rId5"/>
                <a:stretch>
                  <a:fillRect l="-579" t="-12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8731B4-469F-0BA0-99A5-3D447EC67AC9}"/>
                  </a:ext>
                </a:extLst>
              </p:cNvPr>
              <p:cNvSpPr txBox="1"/>
              <p:nvPr/>
            </p:nvSpPr>
            <p:spPr>
              <a:xfrm>
                <a:off x="4163352" y="3366392"/>
                <a:ext cx="550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8731B4-469F-0BA0-99A5-3D447EC67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352" y="3366392"/>
                <a:ext cx="550258" cy="369332"/>
              </a:xfrm>
              <a:prstGeom prst="rect">
                <a:avLst/>
              </a:prstGeom>
              <a:blipFill>
                <a:blip r:embed="rId6"/>
                <a:stretch>
                  <a:fillRect l="-10000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B9889A-4363-1551-C89E-77505F512A80}"/>
                  </a:ext>
                </a:extLst>
              </p:cNvPr>
              <p:cNvSpPr txBox="1"/>
              <p:nvPr/>
            </p:nvSpPr>
            <p:spPr>
              <a:xfrm>
                <a:off x="4021743" y="3803467"/>
                <a:ext cx="5583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1800" dirty="0"/>
                  <a:t>]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B9889A-4363-1551-C89E-77505F512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743" y="3803467"/>
                <a:ext cx="558350" cy="369332"/>
              </a:xfrm>
              <a:prstGeom prst="rect">
                <a:avLst/>
              </a:prstGeom>
              <a:blipFill>
                <a:blip r:embed="rId7"/>
                <a:stretch>
                  <a:fillRect l="-9890" t="-8197" r="-2198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A4B57B-1C34-CE3C-F96A-A0379E96D9F9}"/>
                  </a:ext>
                </a:extLst>
              </p:cNvPr>
              <p:cNvSpPr txBox="1"/>
              <p:nvPr/>
            </p:nvSpPr>
            <p:spPr>
              <a:xfrm>
                <a:off x="198782" y="4556805"/>
                <a:ext cx="6355766" cy="1387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6. Calculate water flux through each edge layer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AU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𝑠𝑒𝑐𝑡𝑖𝑜𝑛</m:t>
                          </m:r>
                        </m:sup>
                      </m:sSubSup>
                    </m:oMath>
                  </m:oMathPara>
                </a14:m>
                <a:endParaRPr lang="en-AU" sz="1600" dirty="0"/>
              </a:p>
              <a:p>
                <a:r>
                  <a:rPr lang="en-AU" sz="1200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sz="1200" dirty="0"/>
                  <a:t>: water flux through layer 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200" dirty="0"/>
                  <a:t>of edge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AU" sz="1200" dirty="0"/>
              </a:p>
              <a:p>
                <a:endParaRPr lang="en-AU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sz="1200" dirty="0"/>
                  <a:t>: wet-edge mask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A4B57B-1C34-CE3C-F96A-A0379E96D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2" y="4556805"/>
                <a:ext cx="6355766" cy="1387944"/>
              </a:xfrm>
              <a:prstGeom prst="rect">
                <a:avLst/>
              </a:prstGeom>
              <a:blipFill>
                <a:blip r:embed="rId8"/>
                <a:stretch>
                  <a:fillRect l="-576" t="-1322" b="-3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ECC30F-9B16-59F8-2D57-7B41E036FACE}"/>
                  </a:ext>
                </a:extLst>
              </p:cNvPr>
              <p:cNvSpPr txBox="1"/>
              <p:nvPr/>
            </p:nvSpPr>
            <p:spPr>
              <a:xfrm>
                <a:off x="4450619" y="4810913"/>
                <a:ext cx="6959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ECC30F-9B16-59F8-2D57-7B41E036F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619" y="4810913"/>
                <a:ext cx="695915" cy="369332"/>
              </a:xfrm>
              <a:prstGeom prst="rect">
                <a:avLst/>
              </a:prstGeom>
              <a:blipFill>
                <a:blip r:embed="rId9"/>
                <a:stretch>
                  <a:fillRect l="-7018" t="-6557" r="-3509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F8F126-7EE3-5489-FCD3-73576F9605D1}"/>
                  </a:ext>
                </a:extLst>
              </p:cNvPr>
              <p:cNvSpPr txBox="1"/>
              <p:nvPr/>
            </p:nvSpPr>
            <p:spPr>
              <a:xfrm>
                <a:off x="6096000" y="271793"/>
                <a:ext cx="5726464" cy="1213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7. Sum over all vertical layers in one </a:t>
                </a:r>
                <a:r>
                  <a:rPr lang="en-US" altLang="zh-CN" sz="1600" dirty="0"/>
                  <a:t>edge:</a:t>
                </a:r>
                <a:endParaRPr lang="en-AU" sz="1600" dirty="0"/>
              </a:p>
              <a:p>
                <a:r>
                  <a:rPr lang="en-AU" sz="1600" dirty="0"/>
                  <a:t>      </a:t>
                </a:r>
                <a:r>
                  <a:rPr lang="en-AU" sz="1200" dirty="0"/>
                  <a:t>The total water flux through edge 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200" dirty="0"/>
                  <a:t> is:</a:t>
                </a:r>
                <a:endParaRPr lang="en-AU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F8F126-7EE3-5489-FCD3-73576F960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1793"/>
                <a:ext cx="5726464" cy="1213024"/>
              </a:xfrm>
              <a:prstGeom prst="rect">
                <a:avLst/>
              </a:prstGeom>
              <a:blipFill>
                <a:blip r:embed="rId10"/>
                <a:stretch>
                  <a:fillRect l="-532" t="-15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359B32-E97E-6284-7F0A-884D37D629EA}"/>
                  </a:ext>
                </a:extLst>
              </p:cNvPr>
              <p:cNvSpPr txBox="1"/>
              <p:nvPr/>
            </p:nvSpPr>
            <p:spPr>
              <a:xfrm>
                <a:off x="9831825" y="857055"/>
                <a:ext cx="7120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359B32-E97E-6284-7F0A-884D37D62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825" y="857055"/>
                <a:ext cx="712099" cy="369332"/>
              </a:xfrm>
              <a:prstGeom prst="rect">
                <a:avLst/>
              </a:prstGeom>
              <a:blipFill>
                <a:blip r:embed="rId11"/>
                <a:stretch>
                  <a:fillRect l="-7692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1940AA-6A27-55DF-BE5D-AFD0EF946A3C}"/>
                  </a:ext>
                </a:extLst>
              </p:cNvPr>
              <p:cNvSpPr txBox="1"/>
              <p:nvPr/>
            </p:nvSpPr>
            <p:spPr>
              <a:xfrm>
                <a:off x="6190407" y="1484817"/>
                <a:ext cx="5632057" cy="1312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8. Sum the fluxes across all boundary edges:</a:t>
                </a:r>
              </a:p>
              <a:p>
                <a:r>
                  <a:rPr lang="en-AU" sz="1200" dirty="0"/>
                  <a:t>    Add the water flux through all edges forming the control- volume boundary:</a:t>
                </a:r>
              </a:p>
              <a:p>
                <a:endParaRPr lang="en-AU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sSub>
                            <m:sSubPr>
                              <m:ctrlP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AU" sz="1200" dirty="0"/>
              </a:p>
              <a:p>
                <a:endParaRPr lang="en-AU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sz="12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AU" sz="1200" dirty="0"/>
                  <a:t> number of edges along the boundary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1940AA-6A27-55DF-BE5D-AFD0EF94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07" y="1484817"/>
                <a:ext cx="5632057" cy="1312860"/>
              </a:xfrm>
              <a:prstGeom prst="rect">
                <a:avLst/>
              </a:prstGeom>
              <a:blipFill>
                <a:blip r:embed="rId12"/>
                <a:stretch>
                  <a:fillRect l="-541" t="-1395" b="-3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E9E13E-6EF4-9DFF-A0D2-F3D56326FD36}"/>
                  </a:ext>
                </a:extLst>
              </p:cNvPr>
              <p:cNvSpPr txBox="1"/>
              <p:nvPr/>
            </p:nvSpPr>
            <p:spPr>
              <a:xfrm>
                <a:off x="10437378" y="2070079"/>
                <a:ext cx="7120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E9E13E-6EF4-9DFF-A0D2-F3D56326F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378" y="2070079"/>
                <a:ext cx="712099" cy="369332"/>
              </a:xfrm>
              <a:prstGeom prst="rect">
                <a:avLst/>
              </a:prstGeom>
              <a:blipFill>
                <a:blip r:embed="rId13"/>
                <a:stretch>
                  <a:fillRect l="-6838" t="-8333" r="-855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72387F9-F6F1-FCAE-08D4-254E84B93CCB}"/>
              </a:ext>
            </a:extLst>
          </p:cNvPr>
          <p:cNvSpPr txBox="1"/>
          <p:nvPr/>
        </p:nvSpPr>
        <p:spPr>
          <a:xfrm>
            <a:off x="6198499" y="3366392"/>
            <a:ext cx="562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9. Integrate the flux over time</a:t>
            </a:r>
          </a:p>
          <a:p>
            <a:endParaRPr lang="en-A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F5CB5D-E306-854F-2A6A-CA2E2CAFD61E}"/>
                  </a:ext>
                </a:extLst>
              </p:cNvPr>
              <p:cNvSpPr txBox="1"/>
              <p:nvPr/>
            </p:nvSpPr>
            <p:spPr>
              <a:xfrm>
                <a:off x="7206979" y="3976986"/>
                <a:ext cx="2468753" cy="683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𝑅𝐻𝑆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𝑏𝑒𝑔𝑖𝑛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𝑛𝑒𝑡</m:t>
                              </m:r>
                            </m:sub>
                          </m:sSub>
                          <m:d>
                            <m:dPr>
                              <m:ctrlP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F5CB5D-E306-854F-2A6A-CA2E2CAFD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979" y="3976986"/>
                <a:ext cx="2468753" cy="683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F8BE75-A0CC-528B-A6CE-79DA8F7E6721}"/>
                  </a:ext>
                </a:extLst>
              </p:cNvPr>
              <p:cNvSpPr txBox="1"/>
              <p:nvPr/>
            </p:nvSpPr>
            <p:spPr>
              <a:xfrm>
                <a:off x="9686169" y="4110769"/>
                <a:ext cx="8577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rgbClr val="FF0000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rgbClr val="FF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F8BE75-A0CC-528B-A6CE-79DA8F7E6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169" y="4110769"/>
                <a:ext cx="857755" cy="369332"/>
              </a:xfrm>
              <a:prstGeom prst="rect">
                <a:avLst/>
              </a:prstGeom>
              <a:blipFill>
                <a:blip r:embed="rId15"/>
                <a:stretch>
                  <a:fillRect l="-6383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60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A79C5A2-7814-0EC8-B447-FA257A51709C}"/>
              </a:ext>
            </a:extLst>
          </p:cNvPr>
          <p:cNvSpPr/>
          <p:nvPr/>
        </p:nvSpPr>
        <p:spPr>
          <a:xfrm>
            <a:off x="9811512" y="5623786"/>
            <a:ext cx="2285997" cy="929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FCE9E-BF49-D242-073F-5183B55E82C5}"/>
              </a:ext>
            </a:extLst>
          </p:cNvPr>
          <p:cNvSpPr txBox="1"/>
          <p:nvPr/>
        </p:nvSpPr>
        <p:spPr>
          <a:xfrm>
            <a:off x="413766" y="2999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RHS – M</a:t>
            </a:r>
            <a:r>
              <a:rPr lang="en-US" altLang="zh-CN" dirty="0" err="1">
                <a:solidFill>
                  <a:srgbClr val="FF0000"/>
                </a:solidFill>
              </a:rPr>
              <a:t>ethod</a:t>
            </a:r>
            <a:r>
              <a:rPr lang="en-AU" dirty="0">
                <a:solidFill>
                  <a:srgbClr val="FF0000"/>
                </a:solidFill>
              </a:rPr>
              <a:t> C</a:t>
            </a:r>
            <a:r>
              <a:rPr lang="en-AU" dirty="0"/>
              <a:t>: Native SCHISM interface flux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E5F0F-2166-FDCC-5D2C-4E8317ABD942}"/>
              </a:ext>
            </a:extLst>
          </p:cNvPr>
          <p:cNvSpPr txBox="1"/>
          <p:nvPr/>
        </p:nvSpPr>
        <p:spPr>
          <a:xfrm>
            <a:off x="413766" y="896112"/>
            <a:ext cx="63802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1600" dirty="0"/>
              <a:t>Define the control-volume regions</a:t>
            </a:r>
          </a:p>
          <a:p>
            <a:r>
              <a:rPr lang="en-AU" sz="1400" b="1" dirty="0"/>
              <a:t>         </a:t>
            </a:r>
            <a:r>
              <a:rPr lang="en-AU" sz="1400" b="1" dirty="0" err="1">
                <a:solidFill>
                  <a:srgbClr val="00B0F0"/>
                </a:solidFill>
              </a:rPr>
              <a:t>fluxflag.prop</a:t>
            </a:r>
            <a:r>
              <a:rPr lang="en-AU" sz="1200" dirty="0">
                <a:solidFill>
                  <a:srgbClr val="00B0F0"/>
                </a:solidFill>
              </a:rPr>
              <a:t> </a:t>
            </a:r>
            <a:r>
              <a:rPr lang="en-AU" sz="1200" dirty="0"/>
              <a:t>defines the element regions used by SCHISM for native flux accounting.</a:t>
            </a:r>
          </a:p>
          <a:p>
            <a:pPr lvl="4"/>
            <a:r>
              <a:rPr lang="en-AU" sz="1200" dirty="0"/>
              <a:t>Region 0 = River buffer</a:t>
            </a:r>
          </a:p>
          <a:p>
            <a:pPr lvl="4"/>
            <a:r>
              <a:rPr lang="en-AU" sz="1200" dirty="0"/>
              <a:t>Region 1 = Main control volume (Main CV)</a:t>
            </a:r>
          </a:p>
          <a:p>
            <a:pPr lvl="4"/>
            <a:r>
              <a:rPr lang="en-AU" sz="1200" dirty="0"/>
              <a:t>Region 2 = Outside/Ocean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5D7416-1714-7A83-030E-49CDFBD8B975}"/>
              </a:ext>
            </a:extLst>
          </p:cNvPr>
          <p:cNvSpPr/>
          <p:nvPr/>
        </p:nvSpPr>
        <p:spPr>
          <a:xfrm>
            <a:off x="1979676" y="4206464"/>
            <a:ext cx="1719072" cy="10972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9C9DE-01AC-8590-A705-5D09BC4D265A}"/>
              </a:ext>
            </a:extLst>
          </p:cNvPr>
          <p:cNvSpPr txBox="1"/>
          <p:nvPr/>
        </p:nvSpPr>
        <p:spPr>
          <a:xfrm>
            <a:off x="2404872" y="4206464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Region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69B7D-8C07-76E4-2E55-393524496200}"/>
              </a:ext>
            </a:extLst>
          </p:cNvPr>
          <p:cNvSpPr txBox="1"/>
          <p:nvPr/>
        </p:nvSpPr>
        <p:spPr>
          <a:xfrm>
            <a:off x="2585320" y="4843460"/>
            <a:ext cx="630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River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294C9F-FC20-D929-DBFF-26F9CE0A13A3}"/>
              </a:ext>
            </a:extLst>
          </p:cNvPr>
          <p:cNvCxnSpPr>
            <a:cxnSpLocks/>
          </p:cNvCxnSpPr>
          <p:nvPr/>
        </p:nvCxnSpPr>
        <p:spPr>
          <a:xfrm>
            <a:off x="3714892" y="4744923"/>
            <a:ext cx="5669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521639-9526-AA4D-EB2E-61778F0FA457}"/>
              </a:ext>
            </a:extLst>
          </p:cNvPr>
          <p:cNvCxnSpPr>
            <a:cxnSpLocks/>
          </p:cNvCxnSpPr>
          <p:nvPr/>
        </p:nvCxnSpPr>
        <p:spPr>
          <a:xfrm>
            <a:off x="4453128" y="4125138"/>
            <a:ext cx="0" cy="1178606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8A9606-8328-6377-D260-29BAA60A0BCE}"/>
              </a:ext>
            </a:extLst>
          </p:cNvPr>
          <p:cNvCxnSpPr/>
          <p:nvPr/>
        </p:nvCxnSpPr>
        <p:spPr>
          <a:xfrm flipV="1">
            <a:off x="4574428" y="4732735"/>
            <a:ext cx="594360" cy="10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C94D070-3B95-4ABF-AADD-F570CDDA1251}"/>
              </a:ext>
            </a:extLst>
          </p:cNvPr>
          <p:cNvSpPr/>
          <p:nvPr/>
        </p:nvSpPr>
        <p:spPr>
          <a:xfrm>
            <a:off x="5294376" y="4125138"/>
            <a:ext cx="2478020" cy="11786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/>
              <a:t>Region 0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C818A-8C72-BF10-76D0-906FF4BCE259}"/>
              </a:ext>
            </a:extLst>
          </p:cNvPr>
          <p:cNvSpPr txBox="1"/>
          <p:nvPr/>
        </p:nvSpPr>
        <p:spPr>
          <a:xfrm>
            <a:off x="6053328" y="4867949"/>
            <a:ext cx="1088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Main CV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36FE89-A506-D29A-8E18-05B8F7849F91}"/>
              </a:ext>
            </a:extLst>
          </p:cNvPr>
          <p:cNvCxnSpPr>
            <a:cxnSpLocks/>
          </p:cNvCxnSpPr>
          <p:nvPr/>
        </p:nvCxnSpPr>
        <p:spPr>
          <a:xfrm flipH="1" flipV="1">
            <a:off x="4453128" y="5368722"/>
            <a:ext cx="292608" cy="612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3A15D00-61F9-D353-EF2C-3610E06FAD7B}"/>
              </a:ext>
            </a:extLst>
          </p:cNvPr>
          <p:cNvSpPr/>
          <p:nvPr/>
        </p:nvSpPr>
        <p:spPr>
          <a:xfrm>
            <a:off x="5554980" y="1505835"/>
            <a:ext cx="1719072" cy="10972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1F1258-9421-8DA8-4B48-ACDDBE032D2D}"/>
              </a:ext>
            </a:extLst>
          </p:cNvPr>
          <p:cNvSpPr txBox="1"/>
          <p:nvPr/>
        </p:nvSpPr>
        <p:spPr>
          <a:xfrm>
            <a:off x="5980176" y="1505835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Region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125EA7-9C62-AD77-5461-D83087B6271B}"/>
              </a:ext>
            </a:extLst>
          </p:cNvPr>
          <p:cNvSpPr txBox="1"/>
          <p:nvPr/>
        </p:nvSpPr>
        <p:spPr>
          <a:xfrm>
            <a:off x="6158484" y="2125025"/>
            <a:ext cx="804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River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54822-B173-16BC-2427-94E383F39586}"/>
              </a:ext>
            </a:extLst>
          </p:cNvPr>
          <p:cNvSpPr txBox="1"/>
          <p:nvPr/>
        </p:nvSpPr>
        <p:spPr>
          <a:xfrm>
            <a:off x="6053328" y="4188766"/>
            <a:ext cx="1435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/>
              <a:t>Region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FB7340-8CEF-0E80-FC31-C60FC05DA78F}"/>
              </a:ext>
            </a:extLst>
          </p:cNvPr>
          <p:cNvCxnSpPr>
            <a:cxnSpLocks/>
          </p:cNvCxnSpPr>
          <p:nvPr/>
        </p:nvCxnSpPr>
        <p:spPr>
          <a:xfrm>
            <a:off x="6414516" y="2712859"/>
            <a:ext cx="0" cy="582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6856C8-872E-D2D7-3010-376FC89F4A27}"/>
              </a:ext>
            </a:extLst>
          </p:cNvPr>
          <p:cNvCxnSpPr>
            <a:cxnSpLocks/>
          </p:cNvCxnSpPr>
          <p:nvPr/>
        </p:nvCxnSpPr>
        <p:spPr>
          <a:xfrm flipH="1">
            <a:off x="5849112" y="3381565"/>
            <a:ext cx="1136904" cy="4072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630269-9600-5E26-FFE6-F22EC652CE1F}"/>
              </a:ext>
            </a:extLst>
          </p:cNvPr>
          <p:cNvCxnSpPr>
            <a:cxnSpLocks/>
          </p:cNvCxnSpPr>
          <p:nvPr/>
        </p:nvCxnSpPr>
        <p:spPr>
          <a:xfrm>
            <a:off x="6437376" y="3457558"/>
            <a:ext cx="0" cy="57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A57F669-2571-AA13-73A0-E12B03280AEC}"/>
              </a:ext>
            </a:extLst>
          </p:cNvPr>
          <p:cNvSpPr txBox="1"/>
          <p:nvPr/>
        </p:nvSpPr>
        <p:spPr>
          <a:xfrm>
            <a:off x="4574428" y="5981475"/>
            <a:ext cx="1606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River/main edge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02DCE-1861-51DC-F0B7-9A54D70B1885}"/>
              </a:ext>
            </a:extLst>
          </p:cNvPr>
          <p:cNvSpPr txBox="1"/>
          <p:nvPr/>
        </p:nvSpPr>
        <p:spPr>
          <a:xfrm>
            <a:off x="7617094" y="3212970"/>
            <a:ext cx="1606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River/main edge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CA3648-84AD-C12E-7717-C2025937E70B}"/>
              </a:ext>
            </a:extLst>
          </p:cNvPr>
          <p:cNvCxnSpPr>
            <a:cxnSpLocks/>
          </p:cNvCxnSpPr>
          <p:nvPr/>
        </p:nvCxnSpPr>
        <p:spPr>
          <a:xfrm flipH="1">
            <a:off x="7196470" y="3381565"/>
            <a:ext cx="420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7FCE6E-8E0D-C112-D81A-BFF781CA00BD}"/>
              </a:ext>
            </a:extLst>
          </p:cNvPr>
          <p:cNvCxnSpPr>
            <a:cxnSpLocks/>
          </p:cNvCxnSpPr>
          <p:nvPr/>
        </p:nvCxnSpPr>
        <p:spPr>
          <a:xfrm>
            <a:off x="7845552" y="4742916"/>
            <a:ext cx="932688" cy="201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BF557E-D6C3-1884-C122-C9BE516655C8}"/>
              </a:ext>
            </a:extLst>
          </p:cNvPr>
          <p:cNvCxnSpPr>
            <a:cxnSpLocks/>
          </p:cNvCxnSpPr>
          <p:nvPr/>
        </p:nvCxnSpPr>
        <p:spPr>
          <a:xfrm flipH="1">
            <a:off x="9009268" y="4638847"/>
            <a:ext cx="329181" cy="831052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648F47-2CBE-3BA0-908C-98AB5DBDA714}"/>
              </a:ext>
            </a:extLst>
          </p:cNvPr>
          <p:cNvCxnSpPr>
            <a:cxnSpLocks/>
          </p:cNvCxnSpPr>
          <p:nvPr/>
        </p:nvCxnSpPr>
        <p:spPr>
          <a:xfrm>
            <a:off x="9453963" y="5161531"/>
            <a:ext cx="452347" cy="283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C4C269-0796-A8EB-8875-6F784F1FA04B}"/>
              </a:ext>
            </a:extLst>
          </p:cNvPr>
          <p:cNvCxnSpPr>
            <a:cxnSpLocks/>
          </p:cNvCxnSpPr>
          <p:nvPr/>
        </p:nvCxnSpPr>
        <p:spPr>
          <a:xfrm flipV="1">
            <a:off x="8778240" y="5707276"/>
            <a:ext cx="161544" cy="692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47CC466-8B4A-7A35-C6E2-95E75FC81AC1}"/>
              </a:ext>
            </a:extLst>
          </p:cNvPr>
          <p:cNvSpPr txBox="1"/>
          <p:nvPr/>
        </p:nvSpPr>
        <p:spPr>
          <a:xfrm>
            <a:off x="8205810" y="6492014"/>
            <a:ext cx="2072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ocean/main edge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B645DC-C7C5-EE77-8A18-371C323557DE}"/>
              </a:ext>
            </a:extLst>
          </p:cNvPr>
          <p:cNvSpPr txBox="1"/>
          <p:nvPr/>
        </p:nvSpPr>
        <p:spPr>
          <a:xfrm>
            <a:off x="10637520" y="5899481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Ocean</a:t>
            </a:r>
          </a:p>
        </p:txBody>
      </p:sp>
    </p:spTree>
    <p:extLst>
      <p:ext uri="{BB962C8B-B14F-4D97-AF65-F5344CB8AC3E}">
        <p14:creationId xmlns:p14="http://schemas.microsoft.com/office/powerpoint/2010/main" val="365923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04322-C0E8-70D2-6793-C1E5E82FE834}"/>
              </a:ext>
            </a:extLst>
          </p:cNvPr>
          <p:cNvSpPr txBox="1"/>
          <p:nvPr/>
        </p:nvSpPr>
        <p:spPr>
          <a:xfrm>
            <a:off x="265176" y="274320"/>
            <a:ext cx="7370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2. Read native interface flux from </a:t>
            </a:r>
            <a:r>
              <a:rPr lang="en-AU" sz="1600" dirty="0">
                <a:solidFill>
                  <a:srgbClr val="00B0F0"/>
                </a:solidFill>
              </a:rPr>
              <a:t>outputs/</a:t>
            </a:r>
            <a:r>
              <a:rPr lang="en-AU" sz="1600" dirty="0" err="1">
                <a:solidFill>
                  <a:srgbClr val="00B0F0"/>
                </a:solidFill>
              </a:rPr>
              <a:t>flux.out</a:t>
            </a:r>
            <a:endParaRPr lang="en-AU" sz="1600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00E25-6217-C070-4BE7-C9108B2D8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363379"/>
            <a:ext cx="5933771" cy="49825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3D7411-1917-2D82-360C-35D2A737AC3B}"/>
              </a:ext>
            </a:extLst>
          </p:cNvPr>
          <p:cNvSpPr txBox="1"/>
          <p:nvPr/>
        </p:nvSpPr>
        <p:spPr>
          <a:xfrm>
            <a:off x="886968" y="994047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</a:t>
            </a:r>
            <a:r>
              <a:rPr lang="en-US" altLang="zh-CN" dirty="0" err="1"/>
              <a:t>ime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F7C28-1F0E-2A58-5C7C-0046B7EA2CC0}"/>
              </a:ext>
            </a:extLst>
          </p:cNvPr>
          <p:cNvSpPr txBox="1"/>
          <p:nvPr/>
        </p:nvSpPr>
        <p:spPr>
          <a:xfrm>
            <a:off x="2257552" y="994047"/>
            <a:ext cx="142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Region 0/1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8F146-C29A-0F60-D326-299F8D50225F}"/>
              </a:ext>
            </a:extLst>
          </p:cNvPr>
          <p:cNvSpPr txBox="1"/>
          <p:nvPr/>
        </p:nvSpPr>
        <p:spPr>
          <a:xfrm>
            <a:off x="4228249" y="994047"/>
            <a:ext cx="142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Region 1/2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226630-DCE0-9556-4E34-90A54DD424F8}"/>
              </a:ext>
            </a:extLst>
          </p:cNvPr>
          <p:cNvSpPr txBox="1"/>
          <p:nvPr/>
        </p:nvSpPr>
        <p:spPr>
          <a:xfrm>
            <a:off x="6391656" y="1363379"/>
            <a:ext cx="1380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V</a:t>
            </a:r>
            <a:r>
              <a:rPr lang="en-US" altLang="zh-CN" sz="1400" dirty="0" err="1"/>
              <a:t>olume</a:t>
            </a:r>
            <a:r>
              <a:rPr lang="en-US" altLang="zh-CN" sz="1400" dirty="0"/>
              <a:t> 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6F09-01D9-0801-3BC3-17ED296129AC}"/>
              </a:ext>
            </a:extLst>
          </p:cNvPr>
          <p:cNvSpPr txBox="1"/>
          <p:nvPr/>
        </p:nvSpPr>
        <p:spPr>
          <a:xfrm>
            <a:off x="6391656" y="1598004"/>
            <a:ext cx="1947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V</a:t>
            </a:r>
            <a:r>
              <a:rPr lang="en-US" altLang="zh-CN" sz="1400" dirty="0" err="1"/>
              <a:t>olume</a:t>
            </a:r>
            <a:r>
              <a:rPr lang="en-US" altLang="zh-CN" sz="1400" dirty="0"/>
              <a:t> positive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783C34-B58C-40BD-4A5F-6175CA5C333F}"/>
              </a:ext>
            </a:extLst>
          </p:cNvPr>
          <p:cNvSpPr txBox="1"/>
          <p:nvPr/>
        </p:nvSpPr>
        <p:spPr>
          <a:xfrm>
            <a:off x="6391656" y="1823556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V</a:t>
            </a:r>
            <a:r>
              <a:rPr lang="en-US" altLang="zh-CN" sz="1400" dirty="0" err="1"/>
              <a:t>olume</a:t>
            </a:r>
            <a:r>
              <a:rPr lang="en-US" altLang="zh-CN" sz="1400" dirty="0"/>
              <a:t> negative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7AA49-FFC1-29EF-5D81-122F3E7CBE37}"/>
              </a:ext>
            </a:extLst>
          </p:cNvPr>
          <p:cNvSpPr txBox="1"/>
          <p:nvPr/>
        </p:nvSpPr>
        <p:spPr>
          <a:xfrm>
            <a:off x="6391656" y="2058181"/>
            <a:ext cx="2995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Heat transport-positive direction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435E9-D846-EFB8-BC27-4505733E240D}"/>
              </a:ext>
            </a:extLst>
          </p:cNvPr>
          <p:cNvSpPr txBox="1"/>
          <p:nvPr/>
        </p:nvSpPr>
        <p:spPr>
          <a:xfrm>
            <a:off x="6391656" y="2322950"/>
            <a:ext cx="2816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Heat transport-negative direction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1F980B-DFB8-382A-D601-BF46F8437714}"/>
              </a:ext>
            </a:extLst>
          </p:cNvPr>
          <p:cNvSpPr txBox="1"/>
          <p:nvPr/>
        </p:nvSpPr>
        <p:spPr>
          <a:xfrm>
            <a:off x="6391656" y="2575549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Salinity transport-positive direction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1DC559-F727-7AA0-DBFC-6CEF1D79B9F8}"/>
              </a:ext>
            </a:extLst>
          </p:cNvPr>
          <p:cNvSpPr txBox="1"/>
          <p:nvPr/>
        </p:nvSpPr>
        <p:spPr>
          <a:xfrm>
            <a:off x="6391655" y="2840318"/>
            <a:ext cx="313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Salinity transport-negative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3B011CA-15F5-3011-E225-79EDF7B6FBC7}"/>
                  </a:ext>
                </a:extLst>
              </p:cNvPr>
              <p:cNvSpPr txBox="1"/>
              <p:nvPr/>
            </p:nvSpPr>
            <p:spPr>
              <a:xfrm>
                <a:off x="9505823" y="1363379"/>
                <a:ext cx="857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3B011CA-15F5-3011-E225-79EDF7B6F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823" y="1363379"/>
                <a:ext cx="857250" cy="369332"/>
              </a:xfrm>
              <a:prstGeom prst="rect">
                <a:avLst/>
              </a:prstGeom>
              <a:blipFill>
                <a:blip r:embed="rId3"/>
                <a:stretch>
                  <a:fillRect l="-5674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EE95FC-EFD5-94AB-29B7-0234A2B00390}"/>
                  </a:ext>
                </a:extLst>
              </p:cNvPr>
              <p:cNvSpPr txBox="1"/>
              <p:nvPr/>
            </p:nvSpPr>
            <p:spPr>
              <a:xfrm>
                <a:off x="9514967" y="1588931"/>
                <a:ext cx="857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EE95FC-EFD5-94AB-29B7-0234A2B00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967" y="1588931"/>
                <a:ext cx="857250" cy="369332"/>
              </a:xfrm>
              <a:prstGeom prst="rect">
                <a:avLst/>
              </a:prstGeom>
              <a:blipFill>
                <a:blip r:embed="rId4"/>
                <a:stretch>
                  <a:fillRect l="-6429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F59BB4-BD5D-3715-963A-F3EF179996FF}"/>
                  </a:ext>
                </a:extLst>
              </p:cNvPr>
              <p:cNvSpPr txBox="1"/>
              <p:nvPr/>
            </p:nvSpPr>
            <p:spPr>
              <a:xfrm>
                <a:off x="9524111" y="1823556"/>
                <a:ext cx="857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F59BB4-BD5D-3715-963A-F3EF1799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111" y="1823556"/>
                <a:ext cx="857250" cy="369332"/>
              </a:xfrm>
              <a:prstGeom prst="rect">
                <a:avLst/>
              </a:prstGeom>
              <a:blipFill>
                <a:blip r:embed="rId5"/>
                <a:stretch>
                  <a:fillRect l="-5674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E6307F-B18D-FAB8-AADF-36DE0226B907}"/>
                  </a:ext>
                </a:extLst>
              </p:cNvPr>
              <p:cNvSpPr txBox="1"/>
              <p:nvPr/>
            </p:nvSpPr>
            <p:spPr>
              <a:xfrm>
                <a:off x="9533254" y="2058181"/>
                <a:ext cx="12520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dirty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1200" dirty="0"/>
                          <m:t>℃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E6307F-B18D-FAB8-AADF-36DE0226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254" y="2058181"/>
                <a:ext cx="1252043" cy="369332"/>
              </a:xfrm>
              <a:prstGeom prst="rect">
                <a:avLst/>
              </a:prstGeom>
              <a:blipFill>
                <a:blip r:embed="rId6"/>
                <a:stretch>
                  <a:fillRect l="-4390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33C3485-0CAE-B324-B6E0-EE66DD8C93EB}"/>
                  </a:ext>
                </a:extLst>
              </p:cNvPr>
              <p:cNvSpPr txBox="1"/>
              <p:nvPr/>
            </p:nvSpPr>
            <p:spPr>
              <a:xfrm>
                <a:off x="9533254" y="2290964"/>
                <a:ext cx="11148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i="0" dirty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1200" i="0" dirty="0"/>
                          <m:t>℃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33C3485-0CAE-B324-B6E0-EE66DD8C9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254" y="2290964"/>
                <a:ext cx="1114884" cy="369332"/>
              </a:xfrm>
              <a:prstGeom prst="rect">
                <a:avLst/>
              </a:prstGeom>
              <a:blipFill>
                <a:blip r:embed="rId7"/>
                <a:stretch>
                  <a:fillRect l="-4918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BEBC5D-5E0D-76F7-2E89-2EC134F3231E}"/>
                  </a:ext>
                </a:extLst>
              </p:cNvPr>
              <p:cNvSpPr txBox="1"/>
              <p:nvPr/>
            </p:nvSpPr>
            <p:spPr>
              <a:xfrm>
                <a:off x="9533254" y="2551089"/>
                <a:ext cx="1181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𝑆𝑈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BEBC5D-5E0D-76F7-2E89-2EC134F32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254" y="2551089"/>
                <a:ext cx="1181011" cy="369332"/>
              </a:xfrm>
              <a:prstGeom prst="rect">
                <a:avLst/>
              </a:prstGeom>
              <a:blipFill>
                <a:blip r:embed="rId8"/>
                <a:stretch>
                  <a:fillRect l="-4639" t="-6557" r="-1546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57D0FE-708E-893F-7FDE-B596FC42E174}"/>
                  </a:ext>
                </a:extLst>
              </p:cNvPr>
              <p:cNvSpPr txBox="1"/>
              <p:nvPr/>
            </p:nvSpPr>
            <p:spPr>
              <a:xfrm>
                <a:off x="9533254" y="2829986"/>
                <a:ext cx="1181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𝑆𝑈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57D0FE-708E-893F-7FDE-B596FC42E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254" y="2829986"/>
                <a:ext cx="1181011" cy="369332"/>
              </a:xfrm>
              <a:prstGeom prst="rect">
                <a:avLst/>
              </a:prstGeom>
              <a:blipFill>
                <a:blip r:embed="rId9"/>
                <a:stretch>
                  <a:fillRect l="-4639" t="-6557" r="-1546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>
            <a:extLst>
              <a:ext uri="{FF2B5EF4-FFF2-40B4-BE49-F238E27FC236}">
                <a16:creationId xmlns:a16="http://schemas.microsoft.com/office/drawing/2014/main" id="{81CFA1C3-DCBE-43EE-8B6D-6437ABDDDBE3}"/>
              </a:ext>
            </a:extLst>
          </p:cNvPr>
          <p:cNvSpPr/>
          <p:nvPr/>
        </p:nvSpPr>
        <p:spPr>
          <a:xfrm rot="10800000">
            <a:off x="5861303" y="3273552"/>
            <a:ext cx="234696" cy="32095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9D6ADF6-8216-3360-300E-FA6B5D61743C}"/>
              </a:ext>
            </a:extLst>
          </p:cNvPr>
          <p:cNvSpPr/>
          <p:nvPr/>
        </p:nvSpPr>
        <p:spPr>
          <a:xfrm>
            <a:off x="5861302" y="6409944"/>
            <a:ext cx="234697" cy="17373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3392E3-A5B8-2989-39BD-0E8D8B12E7FF}"/>
              </a:ext>
            </a:extLst>
          </p:cNvPr>
          <p:cNvSpPr txBox="1"/>
          <p:nvPr/>
        </p:nvSpPr>
        <p:spPr>
          <a:xfrm>
            <a:off x="6345936" y="4693658"/>
            <a:ext cx="147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AED </a:t>
            </a:r>
            <a:r>
              <a:rPr lang="en-US" altLang="zh-CN" dirty="0"/>
              <a:t>tracers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02D8500-BC7E-E0F8-32B0-98C34404FA19}"/>
                  </a:ext>
                </a:extLst>
              </p:cNvPr>
              <p:cNvSpPr txBox="1"/>
              <p:nvPr/>
            </p:nvSpPr>
            <p:spPr>
              <a:xfrm>
                <a:off x="9533254" y="4730206"/>
                <a:ext cx="1718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AU" altLang="zh-CN" sz="1200" b="0" i="0" dirty="0" smtClean="0">
                            <a:latin typeface="Cambria Math" panose="02040503050406030204" pitchFamily="18" charset="0"/>
                          </a:rPr>
                          <m:t>tracer-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𝑢𝑛𝑖𝑡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02D8500-BC7E-E0F8-32B0-98C34404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254" y="4730206"/>
                <a:ext cx="1718388" cy="369332"/>
              </a:xfrm>
              <a:prstGeom prst="rect">
                <a:avLst/>
              </a:prstGeom>
              <a:blipFill>
                <a:blip r:embed="rId10"/>
                <a:stretch>
                  <a:fillRect l="-3191" t="-819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01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4560B2-EEF8-3FAE-ECC4-8D43F91938BB}"/>
                  </a:ext>
                </a:extLst>
              </p:cNvPr>
              <p:cNvSpPr txBox="1"/>
              <p:nvPr/>
            </p:nvSpPr>
            <p:spPr>
              <a:xfrm>
                <a:off x="192024" y="557784"/>
                <a:ext cx="5065776" cy="841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3. C</a:t>
                </a:r>
                <a:r>
                  <a:rPr lang="en-US" altLang="zh-CN" sz="1600" dirty="0" err="1"/>
                  <a:t>alculate</a:t>
                </a:r>
                <a:r>
                  <a:rPr lang="en-US" altLang="zh-CN" sz="1600" dirty="0"/>
                  <a:t> the net native flux into the Main CV</a:t>
                </a:r>
              </a:p>
              <a:p>
                <a:endParaRPr lang="en-US" sz="160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𝑅𝑖𝑣𝑒𝑟</m:t>
                          </m:r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en-A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𝑂𝑐𝑒𝑎𝑛</m:t>
                          </m:r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en-A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4560B2-EEF8-3FAE-ECC4-8D43F919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557784"/>
                <a:ext cx="5065776" cy="841769"/>
              </a:xfrm>
              <a:prstGeom prst="rect">
                <a:avLst/>
              </a:prstGeom>
              <a:blipFill>
                <a:blip r:embed="rId2"/>
                <a:stretch>
                  <a:fillRect l="-722" t="-2174" b="-7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D1780-0268-7CB3-86E5-BCE0418E7FFB}"/>
                  </a:ext>
                </a:extLst>
              </p:cNvPr>
              <p:cNvSpPr txBox="1"/>
              <p:nvPr/>
            </p:nvSpPr>
            <p:spPr>
              <a:xfrm>
                <a:off x="4400550" y="1030221"/>
                <a:ext cx="7475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D1780-0268-7CB3-86E5-BCE0418E7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1030221"/>
                <a:ext cx="747522" cy="369332"/>
              </a:xfrm>
              <a:prstGeom prst="rect">
                <a:avLst/>
              </a:prstGeom>
              <a:blipFill>
                <a:blip r:embed="rId3"/>
                <a:stretch>
                  <a:fillRect l="-7317" t="-655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E1D3D20-80E2-BFDE-5F1E-39E9C1F9E8FC}"/>
              </a:ext>
            </a:extLst>
          </p:cNvPr>
          <p:cNvSpPr txBox="1"/>
          <p:nvPr/>
        </p:nvSpPr>
        <p:spPr>
          <a:xfrm>
            <a:off x="274320" y="2304288"/>
            <a:ext cx="4736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4. Integrate over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2773F2-1E53-5A5D-5910-35221CC4166A}"/>
                  </a:ext>
                </a:extLst>
              </p:cNvPr>
              <p:cNvSpPr txBox="1"/>
              <p:nvPr/>
            </p:nvSpPr>
            <p:spPr>
              <a:xfrm>
                <a:off x="1281667" y="2863800"/>
                <a:ext cx="2468753" cy="683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𝑅𝐻𝑆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𝑏𝑒𝑔𝑖𝑛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𝑛𝑒𝑡</m:t>
                              </m:r>
                            </m:sub>
                          </m:sSub>
                          <m:d>
                            <m:dPr>
                              <m:ctrlP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2773F2-1E53-5A5D-5910-35221CC41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67" y="2863800"/>
                <a:ext cx="2468753" cy="683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4B6C7C-9827-C853-33EA-C9E2A349DE9D}"/>
                  </a:ext>
                </a:extLst>
              </p:cNvPr>
              <p:cNvSpPr txBox="1"/>
              <p:nvPr/>
            </p:nvSpPr>
            <p:spPr>
              <a:xfrm>
                <a:off x="3760857" y="2997583"/>
                <a:ext cx="8577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rgbClr val="FF0000"/>
                    </a:solidFill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800" dirty="0">
                    <a:solidFill>
                      <a:srgbClr val="FF0000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4B6C7C-9827-C853-33EA-C9E2A349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857" y="2997583"/>
                <a:ext cx="857755" cy="369332"/>
              </a:xfrm>
              <a:prstGeom prst="rect">
                <a:avLst/>
              </a:prstGeom>
              <a:blipFill>
                <a:blip r:embed="rId5"/>
                <a:stretch>
                  <a:fillRect l="-6383" t="-8333" b="-2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45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08235C-D232-30E1-BDA8-8E48267DCCAD}"/>
              </a:ext>
            </a:extLst>
          </p:cNvPr>
          <p:cNvSpPr/>
          <p:nvPr/>
        </p:nvSpPr>
        <p:spPr>
          <a:xfrm>
            <a:off x="1527048" y="475488"/>
            <a:ext cx="2587752" cy="6309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Whole Domain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1C9556-0740-9C13-1E3B-EEDA8EAD5A88}"/>
              </a:ext>
            </a:extLst>
          </p:cNvPr>
          <p:cNvCxnSpPr>
            <a:stCxn id="4" idx="2"/>
          </p:cNvCxnSpPr>
          <p:nvPr/>
        </p:nvCxnSpPr>
        <p:spPr>
          <a:xfrm>
            <a:off x="2820924" y="1106424"/>
            <a:ext cx="4572" cy="4937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D853EC-DA2C-4104-7C42-99DC4B71CEE7}"/>
              </a:ext>
            </a:extLst>
          </p:cNvPr>
          <p:cNvCxnSpPr>
            <a:cxnSpLocks/>
          </p:cNvCxnSpPr>
          <p:nvPr/>
        </p:nvCxnSpPr>
        <p:spPr>
          <a:xfrm>
            <a:off x="1892808" y="1600200"/>
            <a:ext cx="18653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E04DA8-CDAE-6C50-BD1B-F0CC936A87F9}"/>
              </a:ext>
            </a:extLst>
          </p:cNvPr>
          <p:cNvCxnSpPr/>
          <p:nvPr/>
        </p:nvCxnSpPr>
        <p:spPr>
          <a:xfrm>
            <a:off x="1901952" y="1600200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0C44B2-79BA-1983-1BCF-A796AF6DCABC}"/>
              </a:ext>
            </a:extLst>
          </p:cNvPr>
          <p:cNvCxnSpPr/>
          <p:nvPr/>
        </p:nvCxnSpPr>
        <p:spPr>
          <a:xfrm>
            <a:off x="3758184" y="1600200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3A398E-9105-3C30-43BD-A35DD49D9FDA}"/>
              </a:ext>
            </a:extLst>
          </p:cNvPr>
          <p:cNvSpPr/>
          <p:nvPr/>
        </p:nvSpPr>
        <p:spPr>
          <a:xfrm>
            <a:off x="1106424" y="2002535"/>
            <a:ext cx="1627629" cy="5486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LHS (storage change)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46B0B4-885B-CB9D-76AD-C8D7AB2E40C7}"/>
              </a:ext>
            </a:extLst>
          </p:cNvPr>
          <p:cNvSpPr/>
          <p:nvPr/>
        </p:nvSpPr>
        <p:spPr>
          <a:xfrm>
            <a:off x="3041904" y="2002534"/>
            <a:ext cx="1627629" cy="5486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RHS (flux analysis)</a:t>
            </a:r>
            <a:endParaRPr lang="en-AU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4C81405-CD82-2F1B-A3C4-C2002F8B2111}"/>
              </a:ext>
            </a:extLst>
          </p:cNvPr>
          <p:cNvGrpSpPr/>
          <p:nvPr/>
        </p:nvGrpSpPr>
        <p:grpSpPr>
          <a:xfrm>
            <a:off x="1389888" y="2551174"/>
            <a:ext cx="987552" cy="755906"/>
            <a:chOff x="1389888" y="2551174"/>
            <a:chExt cx="987552" cy="755906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76DEC19-B50D-FA8C-7837-A92D8179A67E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E3E07D-A7B7-1AD6-A371-73A112AF7CF4}"/>
                </a:ext>
              </a:extLst>
            </p:cNvPr>
            <p:cNvCxnSpPr/>
            <p:nvPr/>
          </p:nvCxnSpPr>
          <p:spPr>
            <a:xfrm>
              <a:off x="1408176" y="2898648"/>
              <a:ext cx="9692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089F615-D653-0049-B319-5C2E8CF9669B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7131210-D7AA-FEFF-D7E5-A0D535DAB316}"/>
                </a:ext>
              </a:extLst>
            </p:cNvPr>
            <p:cNvCxnSpPr>
              <a:cxnSpLocks/>
            </p:cNvCxnSpPr>
            <p:nvPr/>
          </p:nvCxnSpPr>
          <p:spPr>
            <a:xfrm>
              <a:off x="2377440" y="2904744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002AFB-29B6-813C-180F-0BBC76031E10}"/>
              </a:ext>
            </a:extLst>
          </p:cNvPr>
          <p:cNvSpPr/>
          <p:nvPr/>
        </p:nvSpPr>
        <p:spPr>
          <a:xfrm>
            <a:off x="338328" y="3300985"/>
            <a:ext cx="1289304" cy="12161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9808D39-F7C7-DDA9-2B72-AAA1023237A1}"/>
              </a:ext>
            </a:extLst>
          </p:cNvPr>
          <p:cNvSpPr/>
          <p:nvPr/>
        </p:nvSpPr>
        <p:spPr>
          <a:xfrm>
            <a:off x="1920238" y="3313176"/>
            <a:ext cx="1289304" cy="1203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B84A27-9BD8-E1EC-516D-047D2A99D8BF}"/>
              </a:ext>
            </a:extLst>
          </p:cNvPr>
          <p:cNvSpPr txBox="1"/>
          <p:nvPr/>
        </p:nvSpPr>
        <p:spPr>
          <a:xfrm>
            <a:off x="338328" y="3585895"/>
            <a:ext cx="128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LHS-1: node base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4E65A7-E896-E8F5-7F18-53698F5288F5}"/>
              </a:ext>
            </a:extLst>
          </p:cNvPr>
          <p:cNvSpPr txBox="1"/>
          <p:nvPr/>
        </p:nvSpPr>
        <p:spPr>
          <a:xfrm>
            <a:off x="1990344" y="3447395"/>
            <a:ext cx="1289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LHS-2: AED base (element)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00788D-B56E-BABD-A9F8-ECD277C92551}"/>
              </a:ext>
            </a:extLst>
          </p:cNvPr>
          <p:cNvCxnSpPr>
            <a:cxnSpLocks/>
          </p:cNvCxnSpPr>
          <p:nvPr/>
        </p:nvCxnSpPr>
        <p:spPr>
          <a:xfrm>
            <a:off x="3861813" y="2566413"/>
            <a:ext cx="0" cy="734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853380D-65D4-C558-F220-DEBA8F60F74C}"/>
              </a:ext>
            </a:extLst>
          </p:cNvPr>
          <p:cNvSpPr/>
          <p:nvPr/>
        </p:nvSpPr>
        <p:spPr>
          <a:xfrm>
            <a:off x="3453380" y="3300984"/>
            <a:ext cx="1627628" cy="1203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15775B-5C56-9018-EEA8-E91A1E8F1E4D}"/>
              </a:ext>
            </a:extLst>
          </p:cNvPr>
          <p:cNvSpPr txBox="1"/>
          <p:nvPr/>
        </p:nvSpPr>
        <p:spPr>
          <a:xfrm>
            <a:off x="3696250" y="3247793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Method 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5D9174-3893-AAEA-3529-D95413FE0D48}"/>
              </a:ext>
            </a:extLst>
          </p:cNvPr>
          <p:cNvSpPr txBox="1"/>
          <p:nvPr/>
        </p:nvSpPr>
        <p:spPr>
          <a:xfrm>
            <a:off x="3523486" y="3426944"/>
            <a:ext cx="16307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  <a:r>
              <a:rPr lang="en-AU" sz="1400" dirty="0"/>
              <a:t>ode-based reconstruction of edge-layer water flux (at external-boundary flux)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784A0B0-4ADE-7CE9-A825-819D35DAD972}"/>
              </a:ext>
            </a:extLst>
          </p:cNvPr>
          <p:cNvGrpSpPr/>
          <p:nvPr/>
        </p:nvGrpSpPr>
        <p:grpSpPr>
          <a:xfrm rot="10800000">
            <a:off x="1290828" y="4523233"/>
            <a:ext cx="987552" cy="755906"/>
            <a:chOff x="1389888" y="2551174"/>
            <a:chExt cx="987552" cy="755906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CE153FA-6041-8535-9A4D-388DBD4B49B7}"/>
                </a:ext>
              </a:extLst>
            </p:cNvPr>
            <p:cNvCxnSpPr>
              <a:cxnSpLocks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70BB997-ABF1-6D71-8AD1-14CD8F20F810}"/>
                </a:ext>
              </a:extLst>
            </p:cNvPr>
            <p:cNvCxnSpPr/>
            <p:nvPr/>
          </p:nvCxnSpPr>
          <p:spPr>
            <a:xfrm>
              <a:off x="1408176" y="2898648"/>
              <a:ext cx="9692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77261FF-BCB9-E7F3-7B9F-D57FD295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6EAF607-0BAB-00AC-50AE-DF33FF44E5A6}"/>
                </a:ext>
              </a:extLst>
            </p:cNvPr>
            <p:cNvCxnSpPr>
              <a:cxnSpLocks/>
            </p:cNvCxnSpPr>
            <p:nvPr/>
          </p:nvCxnSpPr>
          <p:spPr>
            <a:xfrm>
              <a:off x="2377440" y="2904744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0BCC76E3-7EF6-2853-7D0D-FE210AA08A19}"/>
                  </a:ext>
                </a:extLst>
              </p:cNvPr>
              <p:cNvSpPr/>
              <p:nvPr/>
            </p:nvSpPr>
            <p:spPr>
              <a:xfrm>
                <a:off x="1244347" y="5279139"/>
                <a:ext cx="1007364" cy="54863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𝐿𝐻𝑆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0BCC76E3-7EF6-2853-7D0D-FE210AA08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47" y="5279139"/>
                <a:ext cx="1007364" cy="548639"/>
              </a:xfrm>
              <a:prstGeom prst="roundRect">
                <a:avLst/>
              </a:prstGeom>
              <a:blipFill>
                <a:blip r:embed="rId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82BC2B8D-DFE5-7ECE-582E-1EC60E7936BF}"/>
                  </a:ext>
                </a:extLst>
              </p:cNvPr>
              <p:cNvSpPr/>
              <p:nvPr/>
            </p:nvSpPr>
            <p:spPr>
              <a:xfrm>
                <a:off x="3749040" y="5254757"/>
                <a:ext cx="1007364" cy="54863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𝐻𝑆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82BC2B8D-DFE5-7ECE-582E-1EC60E793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0" y="5254757"/>
                <a:ext cx="1007364" cy="54863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C43ED93-869F-8757-9EE2-33024F57040F}"/>
              </a:ext>
            </a:extLst>
          </p:cNvPr>
          <p:cNvCxnSpPr>
            <a:cxnSpLocks/>
          </p:cNvCxnSpPr>
          <p:nvPr/>
        </p:nvCxnSpPr>
        <p:spPr>
          <a:xfrm>
            <a:off x="4178805" y="4520186"/>
            <a:ext cx="0" cy="734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C44CA03-B7B9-CAA1-C1C5-812054D2F543}"/>
                  </a:ext>
                </a:extLst>
              </p:cNvPr>
              <p:cNvSpPr txBox="1"/>
              <p:nvPr/>
            </p:nvSpPr>
            <p:spPr>
              <a:xfrm>
                <a:off x="2822293" y="5414958"/>
                <a:ext cx="219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C44CA03-B7B9-CAA1-C1C5-812054D2F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293" y="5414958"/>
                <a:ext cx="219611" cy="276999"/>
              </a:xfrm>
              <a:prstGeom prst="rect">
                <a:avLst/>
              </a:prstGeom>
              <a:blipFill>
                <a:blip r:embed="rId4"/>
                <a:stretch>
                  <a:fillRect l="-13889" r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139D1B1-F4EF-D8F4-3F03-452D5093AECC}"/>
              </a:ext>
            </a:extLst>
          </p:cNvPr>
          <p:cNvSpPr txBox="1"/>
          <p:nvPr/>
        </p:nvSpPr>
        <p:spPr>
          <a:xfrm>
            <a:off x="2204631" y="5666236"/>
            <a:ext cx="227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Closure check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B4F7306-F71D-8DFE-2B4F-B2D76B84D4CC}"/>
              </a:ext>
            </a:extLst>
          </p:cNvPr>
          <p:cNvSpPr/>
          <p:nvPr/>
        </p:nvSpPr>
        <p:spPr>
          <a:xfrm>
            <a:off x="6899033" y="475488"/>
            <a:ext cx="2587752" cy="6309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Main CV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30EA3F-ADA3-2BAF-17D0-102913E224C4}"/>
              </a:ext>
            </a:extLst>
          </p:cNvPr>
          <p:cNvCxnSpPr>
            <a:stCxn id="52" idx="2"/>
          </p:cNvCxnSpPr>
          <p:nvPr/>
        </p:nvCxnSpPr>
        <p:spPr>
          <a:xfrm>
            <a:off x="8192909" y="1106424"/>
            <a:ext cx="4572" cy="4937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FC19B78-3197-8AEB-36D1-02BAB3DEA1D4}"/>
              </a:ext>
            </a:extLst>
          </p:cNvPr>
          <p:cNvCxnSpPr>
            <a:cxnSpLocks/>
          </p:cNvCxnSpPr>
          <p:nvPr/>
        </p:nvCxnSpPr>
        <p:spPr>
          <a:xfrm>
            <a:off x="7264793" y="1600200"/>
            <a:ext cx="25420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CE57A5C-7BFA-0C7C-7ED9-BC3F03916116}"/>
              </a:ext>
            </a:extLst>
          </p:cNvPr>
          <p:cNvCxnSpPr/>
          <p:nvPr/>
        </p:nvCxnSpPr>
        <p:spPr>
          <a:xfrm>
            <a:off x="7273937" y="1600200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4AB584C-EFF5-038A-6107-DD91E9396847}"/>
              </a:ext>
            </a:extLst>
          </p:cNvPr>
          <p:cNvCxnSpPr/>
          <p:nvPr/>
        </p:nvCxnSpPr>
        <p:spPr>
          <a:xfrm>
            <a:off x="9806825" y="1600198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3DACBDC-2598-9D96-C6CE-2A8940B398A0}"/>
              </a:ext>
            </a:extLst>
          </p:cNvPr>
          <p:cNvSpPr/>
          <p:nvPr/>
        </p:nvSpPr>
        <p:spPr>
          <a:xfrm>
            <a:off x="6478409" y="2002535"/>
            <a:ext cx="1627629" cy="5486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LHS (storage change)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C4F0281-C299-BEEF-734D-4FFC20E9CDC4}"/>
              </a:ext>
            </a:extLst>
          </p:cNvPr>
          <p:cNvSpPr/>
          <p:nvPr/>
        </p:nvSpPr>
        <p:spPr>
          <a:xfrm>
            <a:off x="8993010" y="2002534"/>
            <a:ext cx="1627629" cy="5486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RHS (flux analysis)</a:t>
            </a:r>
            <a:endParaRPr lang="en-AU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69EBD83-E375-B66F-19D1-6C7F4571F208}"/>
              </a:ext>
            </a:extLst>
          </p:cNvPr>
          <p:cNvSpPr/>
          <p:nvPr/>
        </p:nvSpPr>
        <p:spPr>
          <a:xfrm>
            <a:off x="5710313" y="3300985"/>
            <a:ext cx="1289304" cy="12161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4C5C76B-4EDC-7334-7E18-CE8800AEF2E5}"/>
              </a:ext>
            </a:extLst>
          </p:cNvPr>
          <p:cNvSpPr/>
          <p:nvPr/>
        </p:nvSpPr>
        <p:spPr>
          <a:xfrm>
            <a:off x="7292223" y="3313176"/>
            <a:ext cx="1289304" cy="1203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6B6649-B2F2-7C25-CCCC-2E6DAA8E2E8E}"/>
              </a:ext>
            </a:extLst>
          </p:cNvPr>
          <p:cNvSpPr txBox="1"/>
          <p:nvPr/>
        </p:nvSpPr>
        <p:spPr>
          <a:xfrm>
            <a:off x="5710313" y="3585895"/>
            <a:ext cx="128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LHS-1: node base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A48275-F7C1-D00B-3B33-9C7A28387D90}"/>
              </a:ext>
            </a:extLst>
          </p:cNvPr>
          <p:cNvSpPr txBox="1"/>
          <p:nvPr/>
        </p:nvSpPr>
        <p:spPr>
          <a:xfrm>
            <a:off x="7362329" y="3447395"/>
            <a:ext cx="1289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LHS-2: AED base (element)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52A399A-D278-D3AC-15AF-7B5D85D20688}"/>
              </a:ext>
            </a:extLst>
          </p:cNvPr>
          <p:cNvSpPr/>
          <p:nvPr/>
        </p:nvSpPr>
        <p:spPr>
          <a:xfrm>
            <a:off x="10425444" y="3328415"/>
            <a:ext cx="1627628" cy="1203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25D139-7D32-DFA8-FC3F-1E7379DAD22E}"/>
              </a:ext>
            </a:extLst>
          </p:cNvPr>
          <p:cNvSpPr txBox="1"/>
          <p:nvPr/>
        </p:nvSpPr>
        <p:spPr>
          <a:xfrm>
            <a:off x="10672676" y="3322319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A666D7-42AD-1CDC-661D-7B9F9C97789A}"/>
              </a:ext>
            </a:extLst>
          </p:cNvPr>
          <p:cNvSpPr txBox="1"/>
          <p:nvPr/>
        </p:nvSpPr>
        <p:spPr>
          <a:xfrm>
            <a:off x="10818859" y="3771894"/>
            <a:ext cx="951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dirty="0" err="1"/>
              <a:t>Flux.out</a:t>
            </a:r>
            <a:endParaRPr lang="en-AU" sz="14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F2B69A-41C1-3640-2251-144DAD393613}"/>
              </a:ext>
            </a:extLst>
          </p:cNvPr>
          <p:cNvGrpSpPr/>
          <p:nvPr/>
        </p:nvGrpSpPr>
        <p:grpSpPr>
          <a:xfrm rot="10800000">
            <a:off x="6662813" y="4523233"/>
            <a:ext cx="987552" cy="755906"/>
            <a:chOff x="1389888" y="2551174"/>
            <a:chExt cx="987552" cy="755906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B196BA9-4B94-1BD6-A73F-0C68D794C893}"/>
                </a:ext>
              </a:extLst>
            </p:cNvPr>
            <p:cNvCxnSpPr>
              <a:cxnSpLocks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C944913-2CB9-9974-934E-DE99A4008DB4}"/>
                </a:ext>
              </a:extLst>
            </p:cNvPr>
            <p:cNvCxnSpPr/>
            <p:nvPr/>
          </p:nvCxnSpPr>
          <p:spPr>
            <a:xfrm>
              <a:off x="1408176" y="2898648"/>
              <a:ext cx="9692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EB532E3-F17E-CFE1-FC77-4C8F249C6CD6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B8FEA22-3FED-1B50-7964-242E63D7A289}"/>
                </a:ext>
              </a:extLst>
            </p:cNvPr>
            <p:cNvCxnSpPr>
              <a:cxnSpLocks/>
            </p:cNvCxnSpPr>
            <p:nvPr/>
          </p:nvCxnSpPr>
          <p:spPr>
            <a:xfrm>
              <a:off x="2377440" y="2904744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5014B079-9A07-4616-EB5F-5069FA27B428}"/>
                  </a:ext>
                </a:extLst>
              </p:cNvPr>
              <p:cNvSpPr/>
              <p:nvPr/>
            </p:nvSpPr>
            <p:spPr>
              <a:xfrm>
                <a:off x="6616332" y="5279139"/>
                <a:ext cx="1007364" cy="54863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𝐿𝐻𝑆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5014B079-9A07-4616-EB5F-5069FA27B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332" y="5279139"/>
                <a:ext cx="1007364" cy="548639"/>
              </a:xfrm>
              <a:prstGeom prst="roundRect">
                <a:avLst/>
              </a:prstGeom>
              <a:blipFill>
                <a:blip r:embed="rId5"/>
                <a:stretch>
                  <a:fillRect r="-41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F4FF8FB4-0EC6-C958-98B4-303CA9528DA5}"/>
                  </a:ext>
                </a:extLst>
              </p:cNvPr>
              <p:cNvSpPr/>
              <p:nvPr/>
            </p:nvSpPr>
            <p:spPr>
              <a:xfrm>
                <a:off x="9801492" y="5254756"/>
                <a:ext cx="1007364" cy="54863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AU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𝐻𝑆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F4FF8FB4-0EC6-C958-98B4-303CA9528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492" y="5254756"/>
                <a:ext cx="1007364" cy="54863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C117AB2-3AE9-35E4-D2BF-C184711B1C48}"/>
                  </a:ext>
                </a:extLst>
              </p:cNvPr>
              <p:cNvSpPr txBox="1"/>
              <p:nvPr/>
            </p:nvSpPr>
            <p:spPr>
              <a:xfrm>
                <a:off x="8651633" y="5414958"/>
                <a:ext cx="219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C117AB2-3AE9-35E4-D2BF-C184711B1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633" y="5414958"/>
                <a:ext cx="219611" cy="276999"/>
              </a:xfrm>
              <a:prstGeom prst="rect">
                <a:avLst/>
              </a:prstGeom>
              <a:blipFill>
                <a:blip r:embed="rId7"/>
                <a:stretch>
                  <a:fillRect l="-11111" r="-13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A322A11-4132-9B92-2A5A-41FFDD5B24AD}"/>
              </a:ext>
            </a:extLst>
          </p:cNvPr>
          <p:cNvGrpSpPr/>
          <p:nvPr/>
        </p:nvGrpSpPr>
        <p:grpSpPr>
          <a:xfrm>
            <a:off x="6662812" y="2566413"/>
            <a:ext cx="987552" cy="755906"/>
            <a:chOff x="1389888" y="2551174"/>
            <a:chExt cx="987552" cy="755906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9B69332-2401-C50C-336C-5592324EC8D1}"/>
                </a:ext>
              </a:extLst>
            </p:cNvPr>
            <p:cNvCxnSpPr>
              <a:cxnSpLocks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118F1F0-54FE-1602-2B94-7ACC0D00450B}"/>
                </a:ext>
              </a:extLst>
            </p:cNvPr>
            <p:cNvCxnSpPr/>
            <p:nvPr/>
          </p:nvCxnSpPr>
          <p:spPr>
            <a:xfrm>
              <a:off x="1408176" y="2898648"/>
              <a:ext cx="9692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037EE9CA-32D9-69C5-4D5D-4A625E690598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840A281-CF26-764A-0819-D89FFF664754}"/>
                </a:ext>
              </a:extLst>
            </p:cNvPr>
            <p:cNvCxnSpPr>
              <a:cxnSpLocks/>
            </p:cNvCxnSpPr>
            <p:nvPr/>
          </p:nvCxnSpPr>
          <p:spPr>
            <a:xfrm>
              <a:off x="2377440" y="2904744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BDD35F3-93B6-92D5-7B1C-2803D35D7349}"/>
              </a:ext>
            </a:extLst>
          </p:cNvPr>
          <p:cNvGrpSpPr/>
          <p:nvPr/>
        </p:nvGrpSpPr>
        <p:grpSpPr>
          <a:xfrm>
            <a:off x="9314573" y="2594610"/>
            <a:ext cx="1627632" cy="749810"/>
            <a:chOff x="1389888" y="2551174"/>
            <a:chExt cx="1627632" cy="74981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1953F1D-9E3C-1B91-B685-A1F8A55DB592}"/>
                </a:ext>
              </a:extLst>
            </p:cNvPr>
            <p:cNvCxnSpPr>
              <a:cxnSpLocks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E965FD6-DE0F-CF68-AA8D-23F2BDABE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8176" y="2883409"/>
              <a:ext cx="1609344" cy="152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E845ED80-A84C-3ACD-0B42-35AB7EEDEF33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D2C0544-3A9D-F8FA-F5C5-044BC1BFD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17520" y="2870451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021B5F8-9D4C-2AA2-B8A1-CB43A6DCC3DF}"/>
              </a:ext>
            </a:extLst>
          </p:cNvPr>
          <p:cNvSpPr/>
          <p:nvPr/>
        </p:nvSpPr>
        <p:spPr>
          <a:xfrm>
            <a:off x="8699862" y="3323802"/>
            <a:ext cx="1627628" cy="1203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4A8976-8151-0EF8-9BC0-DDE2DC84C274}"/>
              </a:ext>
            </a:extLst>
          </p:cNvPr>
          <p:cNvSpPr txBox="1"/>
          <p:nvPr/>
        </p:nvSpPr>
        <p:spPr>
          <a:xfrm>
            <a:off x="8921162" y="3272527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Method 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CF8B6B-7E1B-0524-19CE-BF6676FA78E8}"/>
              </a:ext>
            </a:extLst>
          </p:cNvPr>
          <p:cNvSpPr txBox="1"/>
          <p:nvPr/>
        </p:nvSpPr>
        <p:spPr>
          <a:xfrm>
            <a:off x="8749587" y="3444859"/>
            <a:ext cx="16511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  <a:r>
              <a:rPr lang="en-AU" sz="1400" dirty="0"/>
              <a:t>ode-based reconstruction of edge-layer water flux (CV-interface flux)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876CD55-377D-9FB1-0E9D-C7AD54470568}"/>
              </a:ext>
            </a:extLst>
          </p:cNvPr>
          <p:cNvGrpSpPr/>
          <p:nvPr/>
        </p:nvGrpSpPr>
        <p:grpSpPr>
          <a:xfrm rot="10800000">
            <a:off x="9847973" y="4547616"/>
            <a:ext cx="987552" cy="716285"/>
            <a:chOff x="1389888" y="2551174"/>
            <a:chExt cx="987552" cy="755906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E0F0941-5595-40E0-D0D8-52DF41BC4C34}"/>
                </a:ext>
              </a:extLst>
            </p:cNvPr>
            <p:cNvCxnSpPr>
              <a:cxnSpLocks/>
            </p:cNvCxnSpPr>
            <p:nvPr/>
          </p:nvCxnSpPr>
          <p:spPr>
            <a:xfrm>
              <a:off x="1920239" y="2551174"/>
              <a:ext cx="0" cy="3474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0E438B-5187-48FE-8A77-525B1AD2CF91}"/>
                </a:ext>
              </a:extLst>
            </p:cNvPr>
            <p:cNvCxnSpPr/>
            <p:nvPr/>
          </p:nvCxnSpPr>
          <p:spPr>
            <a:xfrm>
              <a:off x="1408176" y="2898648"/>
              <a:ext cx="9692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05BBBFDC-6306-91EE-5807-E2A7CC6A87F4}"/>
                </a:ext>
              </a:extLst>
            </p:cNvPr>
            <p:cNvCxnSpPr>
              <a:cxnSpLocks/>
            </p:cNvCxnSpPr>
            <p:nvPr/>
          </p:nvCxnSpPr>
          <p:spPr>
            <a:xfrm>
              <a:off x="1389888" y="2898648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367436A-D723-1A86-4FA6-C5841F39D2BC}"/>
                </a:ext>
              </a:extLst>
            </p:cNvPr>
            <p:cNvCxnSpPr>
              <a:cxnSpLocks/>
            </p:cNvCxnSpPr>
            <p:nvPr/>
          </p:nvCxnSpPr>
          <p:spPr>
            <a:xfrm>
              <a:off x="2377440" y="2904744"/>
              <a:ext cx="0" cy="4023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7C678C12-6570-8BB5-C050-B65DB2675DDB}"/>
              </a:ext>
            </a:extLst>
          </p:cNvPr>
          <p:cNvSpPr txBox="1"/>
          <p:nvPr/>
        </p:nvSpPr>
        <p:spPr>
          <a:xfrm>
            <a:off x="8055534" y="5666165"/>
            <a:ext cx="227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Closure check</a:t>
            </a:r>
          </a:p>
        </p:txBody>
      </p:sp>
    </p:spTree>
    <p:extLst>
      <p:ext uri="{BB962C8B-B14F-4D97-AF65-F5344CB8AC3E}">
        <p14:creationId xmlns:p14="http://schemas.microsoft.com/office/powerpoint/2010/main" val="66223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1218</Words>
  <Application>Microsoft Office PowerPoint</Application>
  <PresentationFormat>Widescreen</PresentationFormat>
  <Paragraphs>236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Dongfang Liu</dc:creator>
  <cp:lastModifiedBy>Dongfang Liu</cp:lastModifiedBy>
  <cp:revision>3</cp:revision>
  <dcterms:created xsi:type="dcterms:W3CDTF">2026-09-03T00:08:44Z</dcterms:created>
  <dcterms:modified xsi:type="dcterms:W3CDTF">2026-09-03T07:05:28Z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2026-09-03T05:09:51Z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028b10a4-9719-43e3-906e-7c82dda18219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